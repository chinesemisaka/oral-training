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6"/>
  </p:notesMasterIdLst>
  <p:handoutMasterIdLst>
    <p:handoutMasterId r:id="rId3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2607" userDrawn="1">
          <p15:clr>
            <a:srgbClr val="A4A3A4"/>
          </p15:clr>
        </p15:guide>
        <p15:guide id="3" pos="5112" userDrawn="1">
          <p15:clr>
            <a:srgbClr val="A4A3A4"/>
          </p15:clr>
        </p15:guide>
        <p15:guide id="4" pos="3838" userDrawn="1">
          <p15:clr>
            <a:srgbClr val="A4A3A4"/>
          </p15:clr>
        </p15:guide>
        <p15:guide id="5" orient="horz" pos="1369" userDrawn="1">
          <p15:clr>
            <a:srgbClr val="A4A3A4"/>
          </p15:clr>
        </p15:guide>
        <p15:guide id="6" orient="horz" pos="2798" userDrawn="1">
          <p15:clr>
            <a:srgbClr val="A4A3A4"/>
          </p15:clr>
        </p15:guide>
        <p15:guide id="7" pos="372" userDrawn="1">
          <p15:clr>
            <a:srgbClr val="A4A3A4"/>
          </p15:clr>
        </p15:guide>
        <p15:guide id="8" orient="horz" pos="239" userDrawn="1">
          <p15:clr>
            <a:srgbClr val="A4A3A4"/>
          </p15:clr>
        </p15:guide>
        <p15:guide id="9" pos="7373" userDrawn="1">
          <p15:clr>
            <a:srgbClr val="A4A3A4"/>
          </p15:clr>
        </p15:guide>
        <p15:guide id="10" orient="horz" pos="39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7" name="熊仪_aYju7RJj" initials="熊" lastIdx="0" clrIdx="0"/>
  <p:cmAuthor id="1" name="bing" initials="b" lastIdx="1" clrIdx="0"/>
  <p:cmAuthor id="8" name="yifei" initials="y" lastIdx="1" clrIdx="7"/>
  <p:cmAuthor id="2" name="作者" initials="A" lastIdx="0" clrIdx="1"/>
  <p:cmAuthor id="9" name="ADMIN" initials="A" lastIdx="1" clrIdx="8"/>
  <p:cmAuthor id="3" name="Administrator" initials="A" lastIdx="1" clrIdx="2"/>
  <p:cmAuthor id="4" name="王习习" initials="王" lastIdx="2" clrIdx="0"/>
  <p:cmAuthor id="5" name=" " initials="" lastIdx="1" clrIdx="3"/>
  <p:cmAuthor id="6" name="40733" initials="4" lastIdx="1" clrIdx="5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88E"/>
    <a:srgbClr val="073A7D"/>
    <a:srgbClr val="194579"/>
    <a:srgbClr val="9555AA"/>
    <a:srgbClr val="8C55B3"/>
    <a:srgbClr val="5A4AAE"/>
    <a:srgbClr val="58329E"/>
    <a:srgbClr val="59329E"/>
    <a:srgbClr val="F0E2F7"/>
    <a:srgbClr val="1F3D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5" autoAdjust="0"/>
    <p:restoredTop sz="94660"/>
  </p:normalViewPr>
  <p:slideViewPr>
    <p:cSldViewPr showGuides="1">
      <p:cViewPr varScale="1">
        <p:scale>
          <a:sx n="96" d="100"/>
          <a:sy n="96" d="100"/>
        </p:scale>
        <p:origin x="246" y="57"/>
      </p:cViewPr>
      <p:guideLst>
        <p:guide orient="horz" pos="2147"/>
        <p:guide pos="2607"/>
        <p:guide pos="5112"/>
        <p:guide pos="3838"/>
        <p:guide orient="horz" pos="1369"/>
        <p:guide orient="horz" pos="2798"/>
        <p:guide pos="372"/>
        <p:guide orient="horz" pos="239"/>
        <p:guide pos="7373"/>
        <p:guide orient="horz" pos="39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9601" cy="396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fld id="{C5324F8C-544A-4CD3-AE75-C1991B97C7BA}" type="datetimeFigureOut">
              <a:rPr lang="zh-CN" altLang="en-US" smtClean="0"/>
              <a:t>2026/8/26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fld id="{9AFF940A-C96F-41CA-852F-A088DD64EEC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pitchFamily="18" charset="-122"/>
        <a:ea typeface="思源宋体 CN Medium" panose="020205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pitchFamily="18" charset="-122"/>
        <a:ea typeface="思源宋体 CN Medium" panose="020205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pitchFamily="18" charset="-122"/>
        <a:ea typeface="思源宋体 CN Medium" panose="020205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pitchFamily="18" charset="-122"/>
        <a:ea typeface="思源宋体 CN Medium" panose="020205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pitchFamily="18" charset="-122"/>
        <a:ea typeface="思源宋体 CN Medium" panose="020205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F940A-C96F-41CA-852F-A088DD64EEC8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8815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9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A47-F104-48B3-BCA2-B9F3698A518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98504-51FB-409E-891F-4D2F7AAD08D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A47-F104-48B3-BCA2-B9F3698A518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98504-51FB-409E-891F-4D2F7AAD08D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A47-F104-48B3-BCA2-B9F3698A518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98504-51FB-409E-891F-4D2F7AAD08D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A47-F104-48B3-BCA2-B9F3698A518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98504-51FB-409E-891F-4D2F7AAD08D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A47-F104-48B3-BCA2-B9F3698A518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98504-51FB-409E-891F-4D2F7AAD08D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A47-F104-48B3-BCA2-B9F3698A518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98504-51FB-409E-891F-4D2F7AAD08D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485D-EDFC-4524-ABEE-C2DA8D4F869C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56CC-C099-412F-9655-23477CD235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88595"/>
            <a:ext cx="12124690" cy="6675755"/>
            <a:chOff x="0" y="297"/>
            <a:chExt cx="19094" cy="10513"/>
          </a:xfrm>
        </p:grpSpPr>
        <p:sp>
          <p:nvSpPr>
            <p:cNvPr id="16" name="椭圆 15"/>
            <p:cNvSpPr/>
            <p:nvPr userDrawn="1"/>
          </p:nvSpPr>
          <p:spPr>
            <a:xfrm rot="4980000">
              <a:off x="228" y="329"/>
              <a:ext cx="2061" cy="2061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outerShdw blurRad="152400" dist="76200" dir="5400000" algn="t" rotWithShape="0">
                <a:srgbClr val="0067A2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11270" y="297"/>
              <a:ext cx="7824" cy="7824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softEdge rad="482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>
              <a:off x="0" y="10288"/>
              <a:ext cx="19094" cy="522"/>
              <a:chOff x="0" y="10288"/>
              <a:chExt cx="19094" cy="522"/>
            </a:xfrm>
          </p:grpSpPr>
          <p:sp>
            <p:nvSpPr>
              <p:cNvPr id="12" name="矩形: 圆角 87"/>
              <p:cNvSpPr/>
              <p:nvPr/>
            </p:nvSpPr>
            <p:spPr>
              <a:xfrm>
                <a:off x="0" y="10288"/>
                <a:ext cx="19094" cy="52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汉仪文黑-75简" panose="00020600040101010101" charset="-122"/>
                  <a:ea typeface="汉仪文黑-75简" panose="00020600040101010101" charset="-122"/>
                  <a:cs typeface="汉仪文黑-75简" panose="00020600040101010101" charset="-122"/>
                  <a:sym typeface="+mn-lt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 flipH="1">
                <a:off x="17363" y="10356"/>
                <a:ext cx="1657" cy="250"/>
                <a:chOff x="4799" y="3352"/>
                <a:chExt cx="2441" cy="250"/>
              </a:xfr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19000"/>
                    </a:schemeClr>
                  </a:gs>
                </a:gsLst>
                <a:lin ang="0" scaled="0"/>
              </a:gradFill>
            </p:grpSpPr>
            <p:sp>
              <p:nvSpPr>
                <p:cNvPr id="4" name="燕尾形 3"/>
                <p:cNvSpPr/>
                <p:nvPr/>
              </p:nvSpPr>
              <p:spPr>
                <a:xfrm>
                  <a:off x="4799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5" name="燕尾形 4"/>
                <p:cNvSpPr/>
                <p:nvPr/>
              </p:nvSpPr>
              <p:spPr>
                <a:xfrm>
                  <a:off x="5112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6" name="燕尾形 5"/>
                <p:cNvSpPr/>
                <p:nvPr/>
              </p:nvSpPr>
              <p:spPr>
                <a:xfrm>
                  <a:off x="5425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" name="燕尾形 1"/>
                <p:cNvSpPr/>
                <p:nvPr/>
              </p:nvSpPr>
              <p:spPr>
                <a:xfrm>
                  <a:off x="5738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3" name="燕尾形 12"/>
                <p:cNvSpPr/>
                <p:nvPr/>
              </p:nvSpPr>
              <p:spPr>
                <a:xfrm>
                  <a:off x="6051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7" name="燕尾形 16"/>
                <p:cNvSpPr/>
                <p:nvPr/>
              </p:nvSpPr>
              <p:spPr>
                <a:xfrm>
                  <a:off x="6364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8" name="燕尾形 17"/>
                <p:cNvSpPr/>
                <p:nvPr/>
              </p:nvSpPr>
              <p:spPr>
                <a:xfrm>
                  <a:off x="6677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9" name="燕尾形 18"/>
                <p:cNvSpPr/>
                <p:nvPr/>
              </p:nvSpPr>
              <p:spPr>
                <a:xfrm>
                  <a:off x="6990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208915"/>
            <a:ext cx="12124690" cy="6655435"/>
            <a:chOff x="0" y="329"/>
            <a:chExt cx="19094" cy="10481"/>
          </a:xfrm>
        </p:grpSpPr>
        <p:sp>
          <p:nvSpPr>
            <p:cNvPr id="16" name="椭圆 15"/>
            <p:cNvSpPr/>
            <p:nvPr userDrawn="1"/>
          </p:nvSpPr>
          <p:spPr>
            <a:xfrm rot="4980000">
              <a:off x="228" y="329"/>
              <a:ext cx="2061" cy="2061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outerShdw blurRad="152400" dist="76200" dir="5400000" algn="t" rotWithShape="0">
                <a:srgbClr val="0067A2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>
              <a:off x="0" y="10288"/>
              <a:ext cx="19094" cy="522"/>
              <a:chOff x="0" y="10288"/>
              <a:chExt cx="19094" cy="522"/>
            </a:xfrm>
          </p:grpSpPr>
          <p:sp>
            <p:nvSpPr>
              <p:cNvPr id="12" name="矩形: 圆角 87"/>
              <p:cNvSpPr/>
              <p:nvPr/>
            </p:nvSpPr>
            <p:spPr>
              <a:xfrm>
                <a:off x="0" y="10288"/>
                <a:ext cx="19094" cy="52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汉仪文黑-75简" panose="00020600040101010101" charset="-122"/>
                  <a:ea typeface="汉仪文黑-75简" panose="00020600040101010101" charset="-122"/>
                  <a:cs typeface="汉仪文黑-75简" panose="00020600040101010101" charset="-122"/>
                  <a:sym typeface="+mn-lt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 flipH="1">
                <a:off x="17363" y="10356"/>
                <a:ext cx="1657" cy="250"/>
                <a:chOff x="4799" y="3352"/>
                <a:chExt cx="2441" cy="250"/>
              </a:xfr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19000"/>
                    </a:schemeClr>
                  </a:gs>
                </a:gsLst>
                <a:lin ang="0" scaled="0"/>
              </a:gradFill>
            </p:grpSpPr>
            <p:sp>
              <p:nvSpPr>
                <p:cNvPr id="4" name="燕尾形 3"/>
                <p:cNvSpPr/>
                <p:nvPr/>
              </p:nvSpPr>
              <p:spPr>
                <a:xfrm>
                  <a:off x="4799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5" name="燕尾形 4"/>
                <p:cNvSpPr/>
                <p:nvPr/>
              </p:nvSpPr>
              <p:spPr>
                <a:xfrm>
                  <a:off x="5112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6" name="燕尾形 5"/>
                <p:cNvSpPr/>
                <p:nvPr/>
              </p:nvSpPr>
              <p:spPr>
                <a:xfrm>
                  <a:off x="5425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" name="燕尾形 1"/>
                <p:cNvSpPr/>
                <p:nvPr/>
              </p:nvSpPr>
              <p:spPr>
                <a:xfrm>
                  <a:off x="5738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3" name="燕尾形 12"/>
                <p:cNvSpPr/>
                <p:nvPr/>
              </p:nvSpPr>
              <p:spPr>
                <a:xfrm>
                  <a:off x="6051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7" name="燕尾形 16"/>
                <p:cNvSpPr/>
                <p:nvPr/>
              </p:nvSpPr>
              <p:spPr>
                <a:xfrm>
                  <a:off x="6364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8" name="燕尾形 17"/>
                <p:cNvSpPr/>
                <p:nvPr/>
              </p:nvSpPr>
              <p:spPr>
                <a:xfrm>
                  <a:off x="6677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9" name="燕尾形 18"/>
                <p:cNvSpPr/>
                <p:nvPr/>
              </p:nvSpPr>
              <p:spPr>
                <a:xfrm>
                  <a:off x="6990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0"/>
          <p:cNvSpPr>
            <a:spLocks noGrp="1"/>
          </p:cNvSpPr>
          <p:nvPr>
            <p:ph type="pic" sz="quarter" idx="16" hasCustomPrompt="1"/>
          </p:nvPr>
        </p:nvSpPr>
        <p:spPr>
          <a:xfrm>
            <a:off x="1151890" y="1771650"/>
            <a:ext cx="3325495" cy="4099560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>
            <a:outerShdw blurRad="279400" dist="25400" dir="5400000" algn="t" rotWithShape="0">
              <a:srgbClr val="B2C7D5">
                <a:alpha val="17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188595"/>
            <a:ext cx="12124690" cy="6675755"/>
            <a:chOff x="0" y="297"/>
            <a:chExt cx="19094" cy="10513"/>
          </a:xfrm>
        </p:grpSpPr>
        <p:sp>
          <p:nvSpPr>
            <p:cNvPr id="16" name="椭圆 15"/>
            <p:cNvSpPr/>
            <p:nvPr userDrawn="1"/>
          </p:nvSpPr>
          <p:spPr>
            <a:xfrm rot="4980000">
              <a:off x="228" y="329"/>
              <a:ext cx="2061" cy="2061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outerShdw blurRad="152400" dist="76200" dir="5400000" algn="t" rotWithShape="0">
                <a:srgbClr val="0067A2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11270" y="297"/>
              <a:ext cx="7824" cy="7824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softEdge rad="482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>
              <a:off x="0" y="10288"/>
              <a:ext cx="19094" cy="522"/>
              <a:chOff x="0" y="10288"/>
              <a:chExt cx="19094" cy="522"/>
            </a:xfrm>
          </p:grpSpPr>
          <p:sp>
            <p:nvSpPr>
              <p:cNvPr id="12" name="矩形: 圆角 87"/>
              <p:cNvSpPr/>
              <p:nvPr/>
            </p:nvSpPr>
            <p:spPr>
              <a:xfrm>
                <a:off x="0" y="10288"/>
                <a:ext cx="19094" cy="52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汉仪文黑-75简" panose="00020600040101010101" charset="-122"/>
                  <a:ea typeface="汉仪文黑-75简" panose="00020600040101010101" charset="-122"/>
                  <a:cs typeface="汉仪文黑-75简" panose="00020600040101010101" charset="-122"/>
                  <a:sym typeface="+mn-lt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 flipH="1">
                <a:off x="17363" y="10356"/>
                <a:ext cx="1657" cy="250"/>
                <a:chOff x="4799" y="3352"/>
                <a:chExt cx="2441" cy="250"/>
              </a:xfr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19000"/>
                    </a:schemeClr>
                  </a:gs>
                </a:gsLst>
                <a:lin ang="0" scaled="0"/>
              </a:gradFill>
            </p:grpSpPr>
            <p:sp>
              <p:nvSpPr>
                <p:cNvPr id="4" name="燕尾形 3"/>
                <p:cNvSpPr/>
                <p:nvPr/>
              </p:nvSpPr>
              <p:spPr>
                <a:xfrm>
                  <a:off x="4799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5" name="燕尾形 4"/>
                <p:cNvSpPr/>
                <p:nvPr/>
              </p:nvSpPr>
              <p:spPr>
                <a:xfrm>
                  <a:off x="5112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6" name="燕尾形 5"/>
                <p:cNvSpPr/>
                <p:nvPr/>
              </p:nvSpPr>
              <p:spPr>
                <a:xfrm>
                  <a:off x="5425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" name="燕尾形 1"/>
                <p:cNvSpPr/>
                <p:nvPr/>
              </p:nvSpPr>
              <p:spPr>
                <a:xfrm>
                  <a:off x="5738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3" name="燕尾形 12"/>
                <p:cNvSpPr/>
                <p:nvPr/>
              </p:nvSpPr>
              <p:spPr>
                <a:xfrm>
                  <a:off x="6051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7" name="燕尾形 16"/>
                <p:cNvSpPr/>
                <p:nvPr/>
              </p:nvSpPr>
              <p:spPr>
                <a:xfrm>
                  <a:off x="6364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8" name="燕尾形 17"/>
                <p:cNvSpPr/>
                <p:nvPr/>
              </p:nvSpPr>
              <p:spPr>
                <a:xfrm>
                  <a:off x="6677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9" name="燕尾形 18"/>
                <p:cNvSpPr/>
                <p:nvPr/>
              </p:nvSpPr>
              <p:spPr>
                <a:xfrm>
                  <a:off x="6990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88595"/>
            <a:ext cx="12124690" cy="6675755"/>
            <a:chOff x="0" y="297"/>
            <a:chExt cx="19094" cy="10513"/>
          </a:xfrm>
        </p:grpSpPr>
        <p:sp>
          <p:nvSpPr>
            <p:cNvPr id="16" name="椭圆 15"/>
            <p:cNvSpPr/>
            <p:nvPr userDrawn="1"/>
          </p:nvSpPr>
          <p:spPr>
            <a:xfrm rot="4980000">
              <a:off x="228" y="329"/>
              <a:ext cx="2061" cy="2061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outerShdw blurRad="152400" dist="76200" dir="5400000" algn="t" rotWithShape="0">
                <a:srgbClr val="0067A2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11270" y="297"/>
              <a:ext cx="7824" cy="7824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softEdge rad="482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>
              <a:off x="0" y="10288"/>
              <a:ext cx="19094" cy="522"/>
              <a:chOff x="0" y="10288"/>
              <a:chExt cx="19094" cy="522"/>
            </a:xfrm>
          </p:grpSpPr>
          <p:sp>
            <p:nvSpPr>
              <p:cNvPr id="12" name="矩形: 圆角 87"/>
              <p:cNvSpPr/>
              <p:nvPr/>
            </p:nvSpPr>
            <p:spPr>
              <a:xfrm>
                <a:off x="0" y="10288"/>
                <a:ext cx="19094" cy="52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汉仪文黑-75简" panose="00020600040101010101" charset="-122"/>
                  <a:ea typeface="汉仪文黑-75简" panose="00020600040101010101" charset="-122"/>
                  <a:cs typeface="汉仪文黑-75简" panose="00020600040101010101" charset="-122"/>
                  <a:sym typeface="+mn-lt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 flipH="1">
                <a:off x="17363" y="10356"/>
                <a:ext cx="1657" cy="250"/>
                <a:chOff x="4799" y="3352"/>
                <a:chExt cx="2441" cy="250"/>
              </a:xfr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19000"/>
                    </a:schemeClr>
                  </a:gs>
                </a:gsLst>
                <a:lin ang="0" scaled="0"/>
              </a:gradFill>
            </p:grpSpPr>
            <p:sp>
              <p:nvSpPr>
                <p:cNvPr id="4" name="燕尾形 3"/>
                <p:cNvSpPr/>
                <p:nvPr/>
              </p:nvSpPr>
              <p:spPr>
                <a:xfrm>
                  <a:off x="4799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5" name="燕尾形 4"/>
                <p:cNvSpPr/>
                <p:nvPr/>
              </p:nvSpPr>
              <p:spPr>
                <a:xfrm>
                  <a:off x="5112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6" name="燕尾形 5"/>
                <p:cNvSpPr/>
                <p:nvPr/>
              </p:nvSpPr>
              <p:spPr>
                <a:xfrm>
                  <a:off x="5425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" name="燕尾形 1"/>
                <p:cNvSpPr/>
                <p:nvPr/>
              </p:nvSpPr>
              <p:spPr>
                <a:xfrm>
                  <a:off x="5738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3" name="燕尾形 12"/>
                <p:cNvSpPr/>
                <p:nvPr/>
              </p:nvSpPr>
              <p:spPr>
                <a:xfrm>
                  <a:off x="6051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7" name="燕尾形 16"/>
                <p:cNvSpPr/>
                <p:nvPr/>
              </p:nvSpPr>
              <p:spPr>
                <a:xfrm>
                  <a:off x="6364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8" name="燕尾形 17"/>
                <p:cNvSpPr/>
                <p:nvPr/>
              </p:nvSpPr>
              <p:spPr>
                <a:xfrm>
                  <a:off x="6677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9" name="燕尾形 18"/>
                <p:cNvSpPr/>
                <p:nvPr/>
              </p:nvSpPr>
              <p:spPr>
                <a:xfrm>
                  <a:off x="6990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</p:grpSp>
        </p:grpSp>
      </p:grpSp>
      <p:sp>
        <p:nvSpPr>
          <p:cNvPr id="8" name="Picture Placeholder 10"/>
          <p:cNvSpPr>
            <a:spLocks noGrp="1"/>
          </p:cNvSpPr>
          <p:nvPr>
            <p:ph type="pic" sz="quarter" idx="16" hasCustomPrompt="1"/>
          </p:nvPr>
        </p:nvSpPr>
        <p:spPr>
          <a:xfrm>
            <a:off x="9344660" y="1626870"/>
            <a:ext cx="2205990" cy="415988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>
            <a:outerShdw blurRad="279400" dist="25400" dir="5400000" algn="t" rotWithShape="0">
              <a:srgbClr val="B2C7D5">
                <a:alpha val="17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891020" y="1626870"/>
            <a:ext cx="2205990" cy="415988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>
            <a:outerShdw blurRad="279400" dist="25400" dir="5400000" algn="t" rotWithShape="0">
              <a:srgbClr val="B2C7D5">
                <a:alpha val="17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88595"/>
            <a:ext cx="12124690" cy="6675755"/>
            <a:chOff x="0" y="297"/>
            <a:chExt cx="19094" cy="10513"/>
          </a:xfrm>
        </p:grpSpPr>
        <p:sp>
          <p:nvSpPr>
            <p:cNvPr id="16" name="椭圆 15"/>
            <p:cNvSpPr/>
            <p:nvPr userDrawn="1"/>
          </p:nvSpPr>
          <p:spPr>
            <a:xfrm rot="4980000">
              <a:off x="228" y="329"/>
              <a:ext cx="2061" cy="2061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outerShdw blurRad="152400" dist="76200" dir="5400000" algn="t" rotWithShape="0">
                <a:srgbClr val="0067A2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11270" y="297"/>
              <a:ext cx="7824" cy="7824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softEdge rad="482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>
              <a:off x="0" y="10288"/>
              <a:ext cx="19094" cy="522"/>
              <a:chOff x="0" y="10288"/>
              <a:chExt cx="19094" cy="522"/>
            </a:xfrm>
          </p:grpSpPr>
          <p:sp>
            <p:nvSpPr>
              <p:cNvPr id="12" name="矩形: 圆角 87"/>
              <p:cNvSpPr/>
              <p:nvPr/>
            </p:nvSpPr>
            <p:spPr>
              <a:xfrm>
                <a:off x="0" y="10288"/>
                <a:ext cx="19094" cy="52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汉仪文黑-75简" panose="00020600040101010101" charset="-122"/>
                  <a:ea typeface="汉仪文黑-75简" panose="00020600040101010101" charset="-122"/>
                  <a:cs typeface="汉仪文黑-75简" panose="00020600040101010101" charset="-122"/>
                  <a:sym typeface="+mn-lt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 flipH="1">
                <a:off x="17363" y="10356"/>
                <a:ext cx="1657" cy="250"/>
                <a:chOff x="4799" y="3352"/>
                <a:chExt cx="2441" cy="250"/>
              </a:xfr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19000"/>
                    </a:schemeClr>
                  </a:gs>
                </a:gsLst>
                <a:lin ang="0" scaled="0"/>
              </a:gradFill>
            </p:grpSpPr>
            <p:sp>
              <p:nvSpPr>
                <p:cNvPr id="4" name="燕尾形 3"/>
                <p:cNvSpPr/>
                <p:nvPr/>
              </p:nvSpPr>
              <p:spPr>
                <a:xfrm>
                  <a:off x="4799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5" name="燕尾形 4"/>
                <p:cNvSpPr/>
                <p:nvPr/>
              </p:nvSpPr>
              <p:spPr>
                <a:xfrm>
                  <a:off x="5112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6" name="燕尾形 5"/>
                <p:cNvSpPr/>
                <p:nvPr/>
              </p:nvSpPr>
              <p:spPr>
                <a:xfrm>
                  <a:off x="5425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" name="燕尾形 1"/>
                <p:cNvSpPr/>
                <p:nvPr/>
              </p:nvSpPr>
              <p:spPr>
                <a:xfrm>
                  <a:off x="5738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3" name="燕尾形 12"/>
                <p:cNvSpPr/>
                <p:nvPr/>
              </p:nvSpPr>
              <p:spPr>
                <a:xfrm>
                  <a:off x="6051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7" name="燕尾形 16"/>
                <p:cNvSpPr/>
                <p:nvPr/>
              </p:nvSpPr>
              <p:spPr>
                <a:xfrm>
                  <a:off x="6364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8" name="燕尾形 17"/>
                <p:cNvSpPr/>
                <p:nvPr/>
              </p:nvSpPr>
              <p:spPr>
                <a:xfrm>
                  <a:off x="6677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9" name="燕尾形 18"/>
                <p:cNvSpPr/>
                <p:nvPr/>
              </p:nvSpPr>
              <p:spPr>
                <a:xfrm>
                  <a:off x="6990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</p:grpSp>
        </p:grpSp>
      </p:grpSp>
      <p:sp>
        <p:nvSpPr>
          <p:cNvPr id="8" name="Picture Placeholder 10"/>
          <p:cNvSpPr>
            <a:spLocks noGrp="1"/>
          </p:cNvSpPr>
          <p:nvPr>
            <p:ph type="pic" sz="quarter" idx="16" hasCustomPrompt="1"/>
          </p:nvPr>
        </p:nvSpPr>
        <p:spPr>
          <a:xfrm>
            <a:off x="9618980" y="1817370"/>
            <a:ext cx="2023110" cy="212788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>
            <a:outerShdw blurRad="279400" dist="25400" dir="5400000" algn="t" rotWithShape="0">
              <a:srgbClr val="B2C7D5">
                <a:alpha val="17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7386320" y="2312670"/>
            <a:ext cx="2023110" cy="212788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>
            <a:outerShdw blurRad="279400" dist="25400" dir="5400000" algn="t" rotWithShape="0">
              <a:srgbClr val="B2C7D5">
                <a:alpha val="17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5153660" y="1817370"/>
            <a:ext cx="2023110" cy="212788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>
            <a:outerShdw blurRad="279400" dist="25400" dir="5400000" algn="t" rotWithShape="0">
              <a:srgbClr val="B2C7D5">
                <a:alpha val="17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2921000" y="2312670"/>
            <a:ext cx="2023110" cy="212788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>
            <a:outerShdw blurRad="279400" dist="25400" dir="5400000" algn="t" rotWithShape="0">
              <a:srgbClr val="B2C7D5">
                <a:alpha val="17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688340" y="1817370"/>
            <a:ext cx="2023110" cy="212788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>
            <a:outerShdw blurRad="279400" dist="25400" dir="5400000" algn="t" rotWithShape="0">
              <a:srgbClr val="B2C7D5">
                <a:alpha val="17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0" y="188595"/>
            <a:ext cx="12124690" cy="6675755"/>
            <a:chOff x="0" y="297"/>
            <a:chExt cx="19094" cy="10513"/>
          </a:xfrm>
        </p:grpSpPr>
        <p:sp>
          <p:nvSpPr>
            <p:cNvPr id="16" name="椭圆 15"/>
            <p:cNvSpPr/>
            <p:nvPr userDrawn="1"/>
          </p:nvSpPr>
          <p:spPr>
            <a:xfrm rot="4980000">
              <a:off x="228" y="329"/>
              <a:ext cx="2061" cy="2061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outerShdw blurRad="152400" dist="76200" dir="5400000" algn="t" rotWithShape="0">
                <a:srgbClr val="0067A2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sp>
          <p:nvSpPr>
            <p:cNvPr id="15" name="椭圆 14"/>
            <p:cNvSpPr/>
            <p:nvPr userDrawn="1"/>
          </p:nvSpPr>
          <p:spPr>
            <a:xfrm>
              <a:off x="11270" y="297"/>
              <a:ext cx="7824" cy="7824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softEdge rad="482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grpSp>
          <p:nvGrpSpPr>
            <p:cNvPr id="17" name="组合 16"/>
            <p:cNvGrpSpPr/>
            <p:nvPr userDrawn="1"/>
          </p:nvGrpSpPr>
          <p:grpSpPr>
            <a:xfrm>
              <a:off x="0" y="10288"/>
              <a:ext cx="19094" cy="522"/>
              <a:chOff x="0" y="10288"/>
              <a:chExt cx="19094" cy="522"/>
            </a:xfrm>
          </p:grpSpPr>
          <p:sp>
            <p:nvSpPr>
              <p:cNvPr id="19" name="矩形: 圆角 87"/>
              <p:cNvSpPr/>
              <p:nvPr/>
            </p:nvSpPr>
            <p:spPr>
              <a:xfrm>
                <a:off x="0" y="10288"/>
                <a:ext cx="19094" cy="52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汉仪文黑-75简" panose="00020600040101010101" charset="-122"/>
                  <a:ea typeface="汉仪文黑-75简" panose="00020600040101010101" charset="-122"/>
                  <a:cs typeface="汉仪文黑-75简" panose="00020600040101010101" charset="-122"/>
                  <a:sym typeface="+mn-lt"/>
                </a:endParaRPr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 flipH="1">
                <a:off x="17363" y="10356"/>
                <a:ext cx="1657" cy="250"/>
                <a:chOff x="4799" y="3352"/>
                <a:chExt cx="2441" cy="250"/>
              </a:xfr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19000"/>
                    </a:schemeClr>
                  </a:gs>
                </a:gsLst>
                <a:lin ang="0" scaled="0"/>
              </a:gradFill>
            </p:grpSpPr>
            <p:sp>
              <p:nvSpPr>
                <p:cNvPr id="21" name="燕尾形 20"/>
                <p:cNvSpPr/>
                <p:nvPr/>
              </p:nvSpPr>
              <p:spPr>
                <a:xfrm>
                  <a:off x="4799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2" name="燕尾形 21"/>
                <p:cNvSpPr/>
                <p:nvPr/>
              </p:nvSpPr>
              <p:spPr>
                <a:xfrm>
                  <a:off x="5112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3" name="燕尾形 22"/>
                <p:cNvSpPr/>
                <p:nvPr/>
              </p:nvSpPr>
              <p:spPr>
                <a:xfrm>
                  <a:off x="5425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4" name="燕尾形 23"/>
                <p:cNvSpPr/>
                <p:nvPr/>
              </p:nvSpPr>
              <p:spPr>
                <a:xfrm>
                  <a:off x="5738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5" name="燕尾形 24"/>
                <p:cNvSpPr/>
                <p:nvPr/>
              </p:nvSpPr>
              <p:spPr>
                <a:xfrm>
                  <a:off x="6051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6" name="燕尾形 25"/>
                <p:cNvSpPr/>
                <p:nvPr/>
              </p:nvSpPr>
              <p:spPr>
                <a:xfrm>
                  <a:off x="6364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7" name="燕尾形 26"/>
                <p:cNvSpPr/>
                <p:nvPr/>
              </p:nvSpPr>
              <p:spPr>
                <a:xfrm>
                  <a:off x="6677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8" name="燕尾形 27"/>
                <p:cNvSpPr/>
                <p:nvPr/>
              </p:nvSpPr>
              <p:spPr>
                <a:xfrm>
                  <a:off x="6990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</p:grpSp>
        </p:grpSp>
      </p:grpSp>
      <p:sp>
        <p:nvSpPr>
          <p:cNvPr id="9" name="Picture Placeholder 10"/>
          <p:cNvSpPr>
            <a:spLocks noGrp="1"/>
          </p:cNvSpPr>
          <p:nvPr>
            <p:ph type="pic" sz="quarter" idx="16" hasCustomPrompt="1"/>
          </p:nvPr>
        </p:nvSpPr>
        <p:spPr>
          <a:xfrm>
            <a:off x="6759575" y="3914140"/>
            <a:ext cx="1447165" cy="192341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8331835" y="3914140"/>
            <a:ext cx="1447165" cy="192341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9904095" y="3914140"/>
            <a:ext cx="1447165" cy="1923415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0" y="188595"/>
            <a:ext cx="12124690" cy="6675755"/>
            <a:chOff x="0" y="297"/>
            <a:chExt cx="19094" cy="10513"/>
          </a:xfrm>
        </p:grpSpPr>
        <p:sp>
          <p:nvSpPr>
            <p:cNvPr id="2" name="椭圆 1"/>
            <p:cNvSpPr/>
            <p:nvPr userDrawn="1"/>
          </p:nvSpPr>
          <p:spPr>
            <a:xfrm rot="4980000">
              <a:off x="228" y="329"/>
              <a:ext cx="2061" cy="2061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outerShdw blurRad="152400" dist="76200" dir="5400000" algn="t" rotWithShape="0">
                <a:srgbClr val="0067A2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sp>
          <p:nvSpPr>
            <p:cNvPr id="3" name="椭圆 2"/>
            <p:cNvSpPr/>
            <p:nvPr userDrawn="1"/>
          </p:nvSpPr>
          <p:spPr>
            <a:xfrm>
              <a:off x="11270" y="297"/>
              <a:ext cx="7824" cy="7824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softEdge rad="482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grpSp>
          <p:nvGrpSpPr>
            <p:cNvPr id="4" name="组合 3"/>
            <p:cNvGrpSpPr/>
            <p:nvPr userDrawn="1"/>
          </p:nvGrpSpPr>
          <p:grpSpPr>
            <a:xfrm>
              <a:off x="0" y="10288"/>
              <a:ext cx="19094" cy="522"/>
              <a:chOff x="0" y="10288"/>
              <a:chExt cx="19094" cy="522"/>
            </a:xfrm>
          </p:grpSpPr>
          <p:sp>
            <p:nvSpPr>
              <p:cNvPr id="5" name="矩形: 圆角 87"/>
              <p:cNvSpPr/>
              <p:nvPr/>
            </p:nvSpPr>
            <p:spPr>
              <a:xfrm>
                <a:off x="0" y="10288"/>
                <a:ext cx="19094" cy="52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汉仪文黑-75简" panose="00020600040101010101" charset="-122"/>
                  <a:ea typeface="汉仪文黑-75简" panose="00020600040101010101" charset="-122"/>
                  <a:cs typeface="汉仪文黑-75简" panose="00020600040101010101" charset="-122"/>
                  <a:sym typeface="+mn-lt"/>
                </a:endParaRPr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 flipH="1">
                <a:off x="17363" y="10356"/>
                <a:ext cx="1657" cy="250"/>
                <a:chOff x="4799" y="3352"/>
                <a:chExt cx="2441" cy="250"/>
              </a:xfr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19000"/>
                    </a:schemeClr>
                  </a:gs>
                </a:gsLst>
                <a:lin ang="0" scaled="0"/>
              </a:gradFill>
            </p:grpSpPr>
            <p:sp>
              <p:nvSpPr>
                <p:cNvPr id="7" name="燕尾形 6"/>
                <p:cNvSpPr/>
                <p:nvPr/>
              </p:nvSpPr>
              <p:spPr>
                <a:xfrm>
                  <a:off x="4799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9" name="燕尾形 8"/>
                <p:cNvSpPr/>
                <p:nvPr/>
              </p:nvSpPr>
              <p:spPr>
                <a:xfrm>
                  <a:off x="5112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4" name="燕尾形 13"/>
                <p:cNvSpPr/>
                <p:nvPr/>
              </p:nvSpPr>
              <p:spPr>
                <a:xfrm>
                  <a:off x="5425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5" name="燕尾形 24"/>
                <p:cNvSpPr/>
                <p:nvPr/>
              </p:nvSpPr>
              <p:spPr>
                <a:xfrm>
                  <a:off x="5738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6" name="燕尾形 25"/>
                <p:cNvSpPr/>
                <p:nvPr/>
              </p:nvSpPr>
              <p:spPr>
                <a:xfrm>
                  <a:off x="6051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7" name="燕尾形 26"/>
                <p:cNvSpPr/>
                <p:nvPr/>
              </p:nvSpPr>
              <p:spPr>
                <a:xfrm>
                  <a:off x="6364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8" name="燕尾形 27"/>
                <p:cNvSpPr/>
                <p:nvPr/>
              </p:nvSpPr>
              <p:spPr>
                <a:xfrm>
                  <a:off x="6677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9" name="燕尾形 28"/>
                <p:cNvSpPr/>
                <p:nvPr/>
              </p:nvSpPr>
              <p:spPr>
                <a:xfrm>
                  <a:off x="6990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</p:grpSp>
        </p:grpSp>
      </p:grpSp>
      <p:sp>
        <p:nvSpPr>
          <p:cNvPr id="8" name="矩形 7"/>
          <p:cNvSpPr/>
          <p:nvPr userDrawn="1"/>
        </p:nvSpPr>
        <p:spPr>
          <a:xfrm>
            <a:off x="3568700" y="3529965"/>
            <a:ext cx="2416810" cy="2626360"/>
          </a:xfrm>
          <a:prstGeom prst="rect">
            <a:avLst/>
          </a:prstGeom>
          <a:gradFill>
            <a:gsLst>
              <a:gs pos="0">
                <a:srgbClr val="0067A2">
                  <a:alpha val="17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62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汉仪文黑-75简" panose="00020600040101010101" charset="-122"/>
              <a:ea typeface="汉仪文黑-75简" panose="00020600040101010101" charset="-122"/>
              <a:cs typeface="汉仪文黑-75简" panose="00020600040101010101" charset="-122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844915" y="3529965"/>
            <a:ext cx="2416810" cy="2626360"/>
          </a:xfrm>
          <a:prstGeom prst="rect">
            <a:avLst/>
          </a:prstGeom>
          <a:gradFill>
            <a:gsLst>
              <a:gs pos="0">
                <a:srgbClr val="0067A2">
                  <a:alpha val="17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62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汉仪文黑-75简" panose="00020600040101010101" charset="-122"/>
              <a:ea typeface="汉仪文黑-75简" panose="00020600040101010101" charset="-122"/>
              <a:cs typeface="汉仪文黑-75简" panose="00020600040101010101" charset="-122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930275" y="3529965"/>
            <a:ext cx="2416810" cy="2626360"/>
          </a:xfrm>
          <a:prstGeom prst="rect">
            <a:avLst/>
          </a:prstGeom>
          <a:gradFill>
            <a:gsLst>
              <a:gs pos="0">
                <a:srgbClr val="0067A2">
                  <a:alpha val="17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62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汉仪文黑-75简" panose="00020600040101010101" charset="-122"/>
              <a:ea typeface="汉仪文黑-75简" panose="00020600040101010101" charset="-122"/>
              <a:cs typeface="汉仪文黑-75简" panose="00020600040101010101" charset="-122"/>
              <a:sym typeface="+mn-ea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207125" y="3529965"/>
            <a:ext cx="2416810" cy="2626360"/>
          </a:xfrm>
          <a:prstGeom prst="rect">
            <a:avLst/>
          </a:prstGeom>
          <a:gradFill>
            <a:gsLst>
              <a:gs pos="0">
                <a:srgbClr val="0067A2">
                  <a:alpha val="17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62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汉仪文黑-75简" panose="00020600040101010101" charset="-122"/>
              <a:ea typeface="汉仪文黑-75简" panose="00020600040101010101" charset="-122"/>
              <a:cs typeface="汉仪文黑-75简" panose="00020600040101010101" charset="-122"/>
              <a:sym typeface="+mn-ea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 hasCustomPrompt="1"/>
          </p:nvPr>
        </p:nvSpPr>
        <p:spPr>
          <a:xfrm>
            <a:off x="1471930" y="3032125"/>
            <a:ext cx="1333500" cy="1333500"/>
          </a:xfrm>
          <a:custGeom>
            <a:avLst/>
            <a:gdLst>
              <a:gd name="connsiteX0" fmla="*/ 666750 w 1333500"/>
              <a:gd name="connsiteY0" fmla="*/ 0 h 1333500"/>
              <a:gd name="connsiteX1" fmla="*/ 1333500 w 1333500"/>
              <a:gd name="connsiteY1" fmla="*/ 666750 h 1333500"/>
              <a:gd name="connsiteX2" fmla="*/ 666750 w 1333500"/>
              <a:gd name="connsiteY2" fmla="*/ 1333500 h 1333500"/>
              <a:gd name="connsiteX3" fmla="*/ 0 w 1333500"/>
              <a:gd name="connsiteY3" fmla="*/ 666750 h 1333500"/>
              <a:gd name="connsiteX4" fmla="*/ 666750 w 1333500"/>
              <a:gd name="connsiteY4" fmla="*/ 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0" h="1333500">
                <a:moveTo>
                  <a:pt x="666750" y="0"/>
                </a:moveTo>
                <a:cubicBezTo>
                  <a:pt x="1034986" y="0"/>
                  <a:pt x="1333500" y="298514"/>
                  <a:pt x="1333500" y="666750"/>
                </a:cubicBezTo>
                <a:cubicBezTo>
                  <a:pt x="1333500" y="1034986"/>
                  <a:pt x="1034986" y="1333500"/>
                  <a:pt x="666750" y="1333500"/>
                </a:cubicBezTo>
                <a:cubicBezTo>
                  <a:pt x="298514" y="1333500"/>
                  <a:pt x="0" y="1034986"/>
                  <a:pt x="0" y="666750"/>
                </a:cubicBezTo>
                <a:cubicBezTo>
                  <a:pt x="0" y="298514"/>
                  <a:pt x="298514" y="0"/>
                  <a:pt x="666750" y="0"/>
                </a:cubicBez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4" hasCustomPrompt="1"/>
          </p:nvPr>
        </p:nvSpPr>
        <p:spPr>
          <a:xfrm>
            <a:off x="4110355" y="3032125"/>
            <a:ext cx="1333500" cy="1333500"/>
          </a:xfrm>
          <a:custGeom>
            <a:avLst/>
            <a:gdLst>
              <a:gd name="connsiteX0" fmla="*/ 666750 w 1333500"/>
              <a:gd name="connsiteY0" fmla="*/ 0 h 1333500"/>
              <a:gd name="connsiteX1" fmla="*/ 1333500 w 1333500"/>
              <a:gd name="connsiteY1" fmla="*/ 666750 h 1333500"/>
              <a:gd name="connsiteX2" fmla="*/ 666750 w 1333500"/>
              <a:gd name="connsiteY2" fmla="*/ 1333500 h 1333500"/>
              <a:gd name="connsiteX3" fmla="*/ 0 w 1333500"/>
              <a:gd name="connsiteY3" fmla="*/ 666750 h 1333500"/>
              <a:gd name="connsiteX4" fmla="*/ 666750 w 1333500"/>
              <a:gd name="connsiteY4" fmla="*/ 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0" h="1333500">
                <a:moveTo>
                  <a:pt x="666750" y="0"/>
                </a:moveTo>
                <a:cubicBezTo>
                  <a:pt x="1034986" y="0"/>
                  <a:pt x="1333500" y="298514"/>
                  <a:pt x="1333500" y="666750"/>
                </a:cubicBezTo>
                <a:cubicBezTo>
                  <a:pt x="1333500" y="1034986"/>
                  <a:pt x="1034986" y="1333500"/>
                  <a:pt x="666750" y="1333500"/>
                </a:cubicBezTo>
                <a:cubicBezTo>
                  <a:pt x="298514" y="1333500"/>
                  <a:pt x="0" y="1034986"/>
                  <a:pt x="0" y="666750"/>
                </a:cubicBezTo>
                <a:cubicBezTo>
                  <a:pt x="0" y="298514"/>
                  <a:pt x="298514" y="0"/>
                  <a:pt x="666750" y="0"/>
                </a:cubicBez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5" hasCustomPrompt="1"/>
          </p:nvPr>
        </p:nvSpPr>
        <p:spPr>
          <a:xfrm>
            <a:off x="6748780" y="3032125"/>
            <a:ext cx="1333500" cy="1333500"/>
          </a:xfrm>
          <a:custGeom>
            <a:avLst/>
            <a:gdLst>
              <a:gd name="connsiteX0" fmla="*/ 666750 w 1333500"/>
              <a:gd name="connsiteY0" fmla="*/ 0 h 1333500"/>
              <a:gd name="connsiteX1" fmla="*/ 1333500 w 1333500"/>
              <a:gd name="connsiteY1" fmla="*/ 666750 h 1333500"/>
              <a:gd name="connsiteX2" fmla="*/ 666750 w 1333500"/>
              <a:gd name="connsiteY2" fmla="*/ 1333500 h 1333500"/>
              <a:gd name="connsiteX3" fmla="*/ 0 w 1333500"/>
              <a:gd name="connsiteY3" fmla="*/ 666750 h 1333500"/>
              <a:gd name="connsiteX4" fmla="*/ 666750 w 1333500"/>
              <a:gd name="connsiteY4" fmla="*/ 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0" h="1333500">
                <a:moveTo>
                  <a:pt x="666750" y="0"/>
                </a:moveTo>
                <a:cubicBezTo>
                  <a:pt x="1034986" y="0"/>
                  <a:pt x="1333500" y="298514"/>
                  <a:pt x="1333500" y="666750"/>
                </a:cubicBezTo>
                <a:cubicBezTo>
                  <a:pt x="1333500" y="1034986"/>
                  <a:pt x="1034986" y="1333500"/>
                  <a:pt x="666750" y="1333500"/>
                </a:cubicBezTo>
                <a:cubicBezTo>
                  <a:pt x="298514" y="1333500"/>
                  <a:pt x="0" y="1034986"/>
                  <a:pt x="0" y="666750"/>
                </a:cubicBezTo>
                <a:cubicBezTo>
                  <a:pt x="0" y="298514"/>
                  <a:pt x="298514" y="0"/>
                  <a:pt x="666750" y="0"/>
                </a:cubicBez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6" hasCustomPrompt="1"/>
          </p:nvPr>
        </p:nvSpPr>
        <p:spPr>
          <a:xfrm>
            <a:off x="9386570" y="3032125"/>
            <a:ext cx="1333500" cy="1333500"/>
          </a:xfrm>
          <a:custGeom>
            <a:avLst/>
            <a:gdLst>
              <a:gd name="connsiteX0" fmla="*/ 666750 w 1333500"/>
              <a:gd name="connsiteY0" fmla="*/ 0 h 1333500"/>
              <a:gd name="connsiteX1" fmla="*/ 1333500 w 1333500"/>
              <a:gd name="connsiteY1" fmla="*/ 666750 h 1333500"/>
              <a:gd name="connsiteX2" fmla="*/ 666750 w 1333500"/>
              <a:gd name="connsiteY2" fmla="*/ 1333500 h 1333500"/>
              <a:gd name="connsiteX3" fmla="*/ 0 w 1333500"/>
              <a:gd name="connsiteY3" fmla="*/ 666750 h 1333500"/>
              <a:gd name="connsiteX4" fmla="*/ 666750 w 1333500"/>
              <a:gd name="connsiteY4" fmla="*/ 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0" h="1333500">
                <a:moveTo>
                  <a:pt x="666750" y="0"/>
                </a:moveTo>
                <a:cubicBezTo>
                  <a:pt x="1034986" y="0"/>
                  <a:pt x="1333500" y="298514"/>
                  <a:pt x="1333500" y="666750"/>
                </a:cubicBezTo>
                <a:cubicBezTo>
                  <a:pt x="1333500" y="1034986"/>
                  <a:pt x="1034986" y="1333500"/>
                  <a:pt x="666750" y="1333500"/>
                </a:cubicBezTo>
                <a:cubicBezTo>
                  <a:pt x="298514" y="1333500"/>
                  <a:pt x="0" y="1034986"/>
                  <a:pt x="0" y="666750"/>
                </a:cubicBezTo>
                <a:cubicBezTo>
                  <a:pt x="0" y="298514"/>
                  <a:pt x="298514" y="0"/>
                  <a:pt x="666750" y="0"/>
                </a:cubicBez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0" y="188595"/>
            <a:ext cx="12124690" cy="6675755"/>
            <a:chOff x="0" y="297"/>
            <a:chExt cx="19094" cy="10513"/>
          </a:xfrm>
        </p:grpSpPr>
        <p:sp>
          <p:nvSpPr>
            <p:cNvPr id="3" name="椭圆 2"/>
            <p:cNvSpPr/>
            <p:nvPr userDrawn="1"/>
          </p:nvSpPr>
          <p:spPr>
            <a:xfrm>
              <a:off x="11270" y="297"/>
              <a:ext cx="7824" cy="7824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softEdge rad="482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sp>
          <p:nvSpPr>
            <p:cNvPr id="2" name="椭圆 1"/>
            <p:cNvSpPr/>
            <p:nvPr userDrawn="1"/>
          </p:nvSpPr>
          <p:spPr>
            <a:xfrm rot="4980000">
              <a:off x="228" y="329"/>
              <a:ext cx="2061" cy="2061"/>
            </a:xfrm>
            <a:prstGeom prst="ellipse">
              <a:avLst/>
            </a:prstGeom>
            <a:gradFill>
              <a:gsLst>
                <a:gs pos="0">
                  <a:srgbClr val="0067A2">
                    <a:alpha val="17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9050">
              <a:noFill/>
            </a:ln>
            <a:effectLst>
              <a:outerShdw blurRad="152400" dist="76200" dir="5400000" algn="t" rotWithShape="0">
                <a:srgbClr val="0067A2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dist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  <a:sym typeface="+mn-ea"/>
              </a:endParaRPr>
            </a:p>
          </p:txBody>
        </p:sp>
        <p:grpSp>
          <p:nvGrpSpPr>
            <p:cNvPr id="4" name="组合 3"/>
            <p:cNvGrpSpPr/>
            <p:nvPr userDrawn="1"/>
          </p:nvGrpSpPr>
          <p:grpSpPr>
            <a:xfrm>
              <a:off x="0" y="10288"/>
              <a:ext cx="19094" cy="522"/>
              <a:chOff x="0" y="10288"/>
              <a:chExt cx="19094" cy="522"/>
            </a:xfrm>
          </p:grpSpPr>
          <p:sp>
            <p:nvSpPr>
              <p:cNvPr id="5" name="矩形: 圆角 87"/>
              <p:cNvSpPr/>
              <p:nvPr/>
            </p:nvSpPr>
            <p:spPr>
              <a:xfrm>
                <a:off x="0" y="10288"/>
                <a:ext cx="19094" cy="52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汉仪文黑-75简" panose="00020600040101010101" charset="-122"/>
                  <a:ea typeface="汉仪文黑-75简" panose="00020600040101010101" charset="-122"/>
                  <a:cs typeface="汉仪文黑-75简" panose="00020600040101010101" charset="-122"/>
                  <a:sym typeface="+mn-lt"/>
                </a:endParaRPr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 flipH="1">
                <a:off x="17363" y="10356"/>
                <a:ext cx="1657" cy="250"/>
                <a:chOff x="4799" y="3352"/>
                <a:chExt cx="2441" cy="250"/>
              </a:xfrm>
              <a:gradFill>
                <a:gsLst>
                  <a:gs pos="0">
                    <a:srgbClr val="004776">
                      <a:alpha val="19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19000"/>
                    </a:schemeClr>
                  </a:gs>
                </a:gsLst>
                <a:lin ang="0" scaled="0"/>
              </a:gradFill>
            </p:grpSpPr>
            <p:sp>
              <p:nvSpPr>
                <p:cNvPr id="8" name="燕尾形 7"/>
                <p:cNvSpPr/>
                <p:nvPr/>
              </p:nvSpPr>
              <p:spPr>
                <a:xfrm>
                  <a:off x="4799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9" name="燕尾形 8"/>
                <p:cNvSpPr/>
                <p:nvPr/>
              </p:nvSpPr>
              <p:spPr>
                <a:xfrm>
                  <a:off x="5112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14" name="燕尾形 13"/>
                <p:cNvSpPr/>
                <p:nvPr/>
              </p:nvSpPr>
              <p:spPr>
                <a:xfrm>
                  <a:off x="5425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5" name="燕尾形 24"/>
                <p:cNvSpPr/>
                <p:nvPr/>
              </p:nvSpPr>
              <p:spPr>
                <a:xfrm>
                  <a:off x="5738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6" name="燕尾形 25"/>
                <p:cNvSpPr/>
                <p:nvPr/>
              </p:nvSpPr>
              <p:spPr>
                <a:xfrm>
                  <a:off x="6051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7" name="燕尾形 26"/>
                <p:cNvSpPr/>
                <p:nvPr/>
              </p:nvSpPr>
              <p:spPr>
                <a:xfrm>
                  <a:off x="6364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8" name="燕尾形 27"/>
                <p:cNvSpPr/>
                <p:nvPr/>
              </p:nvSpPr>
              <p:spPr>
                <a:xfrm>
                  <a:off x="6677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  <p:sp>
              <p:nvSpPr>
                <p:cNvPr id="29" name="燕尾形 28"/>
                <p:cNvSpPr/>
                <p:nvPr/>
              </p:nvSpPr>
              <p:spPr>
                <a:xfrm>
                  <a:off x="6990" y="3352"/>
                  <a:ext cx="251" cy="251"/>
                </a:xfrm>
                <a:prstGeom prst="chevr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lvl="0" algn="dist">
                    <a:buClrTx/>
                    <a:buSzTx/>
                    <a:buFontTx/>
                  </a:pPr>
                  <a:endParaRPr lang="zh-CN" altLang="en-US" sz="1200" dirty="0">
                    <a:solidFill>
                      <a:schemeClr val="bg1"/>
                    </a:solidFill>
                    <a:latin typeface="汉仪文黑-75简" panose="00020600040101010101" charset="-122"/>
                    <a:ea typeface="汉仪文黑-75简" panose="00020600040101010101" charset="-122"/>
                    <a:cs typeface="汉仪文黑-75简" panose="00020600040101010101" charset="-122"/>
                    <a:sym typeface="+mn-ea"/>
                  </a:endParaRPr>
                </a:p>
              </p:txBody>
            </p:sp>
          </p:grpSp>
        </p:grpSp>
      </p:grpSp>
      <p:sp>
        <p:nvSpPr>
          <p:cNvPr id="10" name="任意多边形 9"/>
          <p:cNvSpPr/>
          <p:nvPr userDrawn="1"/>
        </p:nvSpPr>
        <p:spPr>
          <a:xfrm>
            <a:off x="605790" y="1619250"/>
            <a:ext cx="6546850" cy="180975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11" h="2851">
                <a:moveTo>
                  <a:pt x="0" y="1425"/>
                </a:moveTo>
                <a:cubicBezTo>
                  <a:pt x="-25" y="625"/>
                  <a:pt x="708" y="-20"/>
                  <a:pt x="1425" y="0"/>
                </a:cubicBezTo>
                <a:lnTo>
                  <a:pt x="10310" y="0"/>
                </a:lnTo>
                <a:lnTo>
                  <a:pt x="10310" y="2850"/>
                </a:lnTo>
                <a:lnTo>
                  <a:pt x="1425" y="2850"/>
                </a:lnTo>
                <a:cubicBezTo>
                  <a:pt x="625" y="2875"/>
                  <a:pt x="-20" y="2142"/>
                  <a:pt x="0" y="1425"/>
                </a:cubicBezTo>
                <a:close/>
              </a:path>
            </a:pathLst>
          </a:custGeom>
          <a:solidFill>
            <a:srgbClr val="07488E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rgbClr val="07488E"/>
              </a:solidFill>
              <a:latin typeface="汉仪文黑-75简" panose="00020600040101010101" charset="-122"/>
              <a:ea typeface="汉仪文黑-75简" panose="00020600040101010101" charset="-122"/>
              <a:cs typeface="汉仪文黑-75简" panose="00020600040101010101" charset="-122"/>
              <a:sym typeface="+mn-ea"/>
            </a:endParaRP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4185285" y="1620520"/>
            <a:ext cx="8006715" cy="1808480"/>
          </a:xfrm>
          <a:custGeom>
            <a:avLst/>
            <a:gdLst>
              <a:gd name="connsiteX0" fmla="*/ 0 w 10072048"/>
              <a:gd name="connsiteY0" fmla="*/ 0 h 2088107"/>
              <a:gd name="connsiteX1" fmla="*/ 10072048 w 10072048"/>
              <a:gd name="connsiteY1" fmla="*/ 0 h 2088107"/>
              <a:gd name="connsiteX2" fmla="*/ 10072048 w 10072048"/>
              <a:gd name="connsiteY2" fmla="*/ 2088107 h 2088107"/>
              <a:gd name="connsiteX3" fmla="*/ 0 w 10072048"/>
              <a:gd name="connsiteY3" fmla="*/ 2088107 h 20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2048" h="2088107">
                <a:moveTo>
                  <a:pt x="0" y="0"/>
                </a:moveTo>
                <a:lnTo>
                  <a:pt x="10072048" y="0"/>
                </a:lnTo>
                <a:lnTo>
                  <a:pt x="10072048" y="2088107"/>
                </a:lnTo>
                <a:lnTo>
                  <a:pt x="0" y="2088107"/>
                </a:ln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r>
              <a:rPr lang="zh-CN" altLang="en-US" dirty="0"/>
              <a:t>请双击替换图片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16.xml"/><Relationship Id="rId21" Type="http://schemas.openxmlformats.org/officeDocument/2006/relationships/tags" Target="../tags/tag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20" Type="http://schemas.openxmlformats.org/officeDocument/2006/relationships/tags" Target="../tags/tag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tags" Target="../tags/tag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3880"/>
            </a:gs>
            <a:gs pos="56000">
              <a:srgbClr val="0F66AE"/>
            </a:gs>
            <a:gs pos="100000">
              <a:schemeClr val="accent2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EDA47-F104-48B3-BCA2-B9F3698A5182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98504-51FB-409E-891F-4D2F7AAD08D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汉仪文黑-75简" panose="00020600040101010101" charset="-122"/>
                <a:ea typeface="汉仪文黑-75简" panose="00020600040101010101" charset="-122"/>
                <a:cs typeface="汉仪文黑-7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汉仪文黑-75简" panose="00020600040101010101" charset="-122"/>
          <a:ea typeface="汉仪文黑-75简" panose="00020600040101010101" charset="-122"/>
          <a:cs typeface="汉仪文黑-75简" panose="0002060004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文黑-75简" panose="00020600040101010101" charset="-122"/>
          <a:ea typeface="汉仪文黑-75简" panose="00020600040101010101" charset="-122"/>
          <a:cs typeface="汉仪文黑-75简" panose="0002060004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文黑-75简" panose="00020600040101010101" charset="-122"/>
          <a:ea typeface="汉仪文黑-75简" panose="00020600040101010101" charset="-122"/>
          <a:cs typeface="汉仪文黑-75简" panose="0002060004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文黑-75简" panose="00020600040101010101" charset="-122"/>
          <a:ea typeface="汉仪文黑-75简" panose="00020600040101010101" charset="-122"/>
          <a:cs typeface="汉仪文黑-75简" panose="0002060004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文黑-75简" panose="00020600040101010101" charset="-122"/>
          <a:ea typeface="汉仪文黑-75简" panose="00020600040101010101" charset="-122"/>
          <a:cs typeface="汉仪文黑-75简" panose="0002060004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汉仪文黑-75简" panose="00020600040101010101" charset="-122"/>
          <a:ea typeface="汉仪文黑-75简" panose="00020600040101010101" charset="-122"/>
          <a:cs typeface="汉仪文黑-75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463040" cy="59232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627632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中国国际大学生创新大赛（2026）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03880"/>
                </a:solidFill>
                <a:latin typeface="微软雅黑"/>
                <a:ea typeface="微软雅黑"/>
              </a:rPr>
              <a:t>基于大语言模型的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03880"/>
                </a:solidFill>
                <a:latin typeface="微软雅黑"/>
                <a:ea typeface="微软雅黑"/>
              </a:rPr>
              <a:t>口腔医疗客服智能陪练系统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66AE"/>
                </a:solidFill>
                <a:latin typeface="微软雅黑"/>
                <a:ea typeface="微软雅黑"/>
              </a:rPr>
              <a:t>沉浸式模拟对练 · 多维智能评估 · 私有化部署的客服培训新范式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92040"/>
            <a:ext cx="4754880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 i="0" dirty="0" err="1">
                <a:solidFill>
                  <a:srgbClr val="192640"/>
                </a:solidFill>
                <a:latin typeface="微软雅黑"/>
                <a:ea typeface="微软雅黑"/>
              </a:rPr>
              <a:t>汇报人：</a:t>
            </a: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金秋泽</a:t>
            </a:r>
            <a:r>
              <a:rPr sz="1300" b="0" i="0" dirty="0">
                <a:solidFill>
                  <a:srgbClr val="5A6B7F"/>
                </a:solidFill>
                <a:latin typeface="微软雅黑"/>
                <a:ea typeface="微软雅黑"/>
              </a:rPr>
              <a:t>  </a:t>
            </a: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章杰</a:t>
            </a:r>
            <a:r>
              <a:rPr sz="1300" b="0" i="0" dirty="0">
                <a:solidFill>
                  <a:srgbClr val="5A6B7F"/>
                </a:solidFill>
                <a:latin typeface="微软雅黑"/>
                <a:ea typeface="微软雅黑"/>
              </a:rPr>
              <a:t>  </a:t>
            </a: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奚泽翰</a:t>
            </a:r>
            <a:r>
              <a:rPr sz="1300" b="1" i="0" dirty="0">
                <a:solidFill>
                  <a:srgbClr val="192640"/>
                </a:solidFill>
                <a:latin typeface="微软雅黑"/>
                <a:ea typeface="微软雅黑"/>
              </a:rPr>
              <a:t>      </a:t>
            </a:r>
            <a:r>
              <a:rPr sz="1300" b="1" i="0" dirty="0" err="1">
                <a:solidFill>
                  <a:srgbClr val="192640"/>
                </a:solidFill>
                <a:latin typeface="微软雅黑"/>
                <a:ea typeface="微软雅黑"/>
              </a:rPr>
              <a:t>指导教师：</a:t>
            </a: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谢江</a:t>
            </a:r>
            <a:endParaRPr sz="1300" b="0" i="0" dirty="0">
              <a:solidFill>
                <a:srgbClr val="5A6B7F"/>
              </a:solidFill>
              <a:latin typeface="微软雅黑"/>
              <a:ea typeface="微软雅黑"/>
            </a:endParaRPr>
          </a:p>
          <a:p>
            <a:pPr algn="l">
              <a:lnSpc>
                <a:spcPct val="160000"/>
              </a:lnSpc>
            </a:pP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上海大学计算机工程与科学学院</a:t>
            </a:r>
            <a:r>
              <a:rPr sz="1300" b="0" i="0" dirty="0">
                <a:solidFill>
                  <a:srgbClr val="5A6B7F"/>
                </a:solidFill>
                <a:latin typeface="微软雅黑"/>
                <a:ea typeface="微软雅黑"/>
              </a:rPr>
              <a:t>      2026 年 8 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473952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SHANGHAI UNIVERSITY</a:t>
            </a:r>
            <a:r>
              <a:rPr sz="1000" b="0" i="0">
                <a:solidFill>
                  <a:srgbClr val="BFD5EA"/>
                </a:solidFill>
                <a:latin typeface="微软雅黑"/>
                <a:ea typeface="微软雅黑"/>
              </a:rPr>
              <a:t>    |    严谨 勤奋 求实 创新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371600" cy="5600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3880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Arial"/>
                <a:ea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9DC3E9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7614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92640"/>
                </a:solidFill>
                <a:latin typeface="微软雅黑"/>
                <a:ea typeface="微软雅黑"/>
              </a:rPr>
              <a:t>市场与痛点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825496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需求爆发 · 四大痛点 · 方案空白 · 市场机会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10128"/>
            <a:ext cx="10332720" cy="127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9DC3E9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5478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92640"/>
                </a:solidFill>
                <a:latin typeface="微软雅黑"/>
                <a:ea typeface="微软雅黑"/>
              </a:rPr>
              <a:t>产品与创新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611879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学练评闭环 · 产品演示 · 三大创新点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96511"/>
            <a:ext cx="10332720" cy="127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9DC3E9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334255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92640"/>
                </a:solidFill>
                <a:latin typeface="微软雅黑"/>
                <a:ea typeface="微软雅黑"/>
              </a:rPr>
              <a:t>技术与壁垒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98264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系统架构 · 语料微调 · 评测体系 · 核心优势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82896"/>
            <a:ext cx="10332720" cy="127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02352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9DC3E9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20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92640"/>
                </a:solidFill>
                <a:latin typeface="微软雅黑"/>
                <a:ea typeface="微软雅黑"/>
              </a:rPr>
              <a:t>商业与市场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184648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商业模式 · 定价锚定 · 市场路径 · 竞争壁垒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669280"/>
            <a:ext cx="10332720" cy="127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888736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9DC3E9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90702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92640"/>
                </a:solidFill>
                <a:latin typeface="微软雅黑"/>
                <a:ea typeface="微软雅黑"/>
              </a:rPr>
              <a:t>团队与规划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971032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团队分工 · 研发进度 · 三步走战略 · 社会价值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6455664"/>
            <a:ext cx="10332720" cy="127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6400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DC3E9"/>
                </a:solidFill>
                <a:latin typeface="Arial"/>
                <a:ea typeface="微软雅黑"/>
              </a:rPr>
              <a:t>SHANGHAI UNIVERSITY</a:t>
            </a:r>
          </a:p>
        </p:txBody>
      </p:sp>
      <p:pic>
        <p:nvPicPr>
          <p:cNvPr id="5" name="Picture 4" descr="badge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371600" cy="560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C9DDF0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3880"/>
                </a:solidFill>
                <a:latin typeface="微软雅黑"/>
                <a:ea typeface="微软雅黑"/>
              </a:rPr>
              <a:t>市场与痛点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Arial"/>
                <a:ea typeface="微软雅黑"/>
              </a:rPr>
              <a:t>MARKET &amp; PAIN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2011680" cy="2794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44348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43434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行业背景：口腔需求爆发，政策推动竞争转向服务质量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48920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8006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四大痛点：话术不标准 / 带教难复制 / 服务难量化 / 大模型不敢用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53492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8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现有方案：四类路径均难解，垂直陪练存在市场空白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8064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57150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市场机会：千亿赛道中的目标客户与可及市场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7488E"/>
                </a:solidFill>
                <a:latin typeface="Arial"/>
                <a:ea typeface="微软雅黑"/>
              </a:rPr>
              <a:t>03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1F2F62E-C471-365B-D9C1-B59918B15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201" y="2383691"/>
            <a:ext cx="6157494" cy="44626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行业背景：需求爆发 · 竞争转向服务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INDUSTRY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01 市场与痛点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3072384" cy="15361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47672"/>
            <a:ext cx="54864" cy="120700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1929384"/>
            <a:ext cx="2706624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1" i="0">
                <a:solidFill>
                  <a:srgbClr val="07488E"/>
                </a:solidFill>
                <a:latin typeface="Arial"/>
                <a:ea typeface="微软雅黑"/>
              </a:rPr>
              <a:t>5.2</a:t>
            </a: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 亿人次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i="0">
                <a:solidFill>
                  <a:srgbClr val="192640"/>
                </a:solidFill>
                <a:latin typeface="微软雅黑"/>
                <a:ea typeface="微软雅黑"/>
              </a:rPr>
              <a:t>口腔门诊人次（预计）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8A99A8"/>
                </a:solidFill>
                <a:latin typeface="微软雅黑"/>
                <a:ea typeface="微软雅黑"/>
              </a:rPr>
              <a:t>较 2020 年增长约 44.4%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3048" y="1783080"/>
            <a:ext cx="3072384" cy="15361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13048" y="1947672"/>
            <a:ext cx="54864" cy="120700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2504" y="1929384"/>
            <a:ext cx="2706624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1" i="0">
                <a:solidFill>
                  <a:srgbClr val="07488E"/>
                </a:solidFill>
                <a:latin typeface="Arial"/>
                <a:ea typeface="微软雅黑"/>
              </a:rPr>
              <a:t>1500</a:t>
            </a: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 亿元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i="0">
                <a:solidFill>
                  <a:srgbClr val="192640"/>
                </a:solidFill>
                <a:latin typeface="微软雅黑"/>
                <a:ea typeface="微软雅黑"/>
              </a:rPr>
              <a:t>2024 年口腔医疗服务市场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8A99A8"/>
                </a:solidFill>
                <a:latin typeface="微软雅黑"/>
                <a:ea typeface="微软雅黑"/>
              </a:rPr>
              <a:t>2028 年预计接近 2000 亿元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8896" y="1783080"/>
            <a:ext cx="3072384" cy="15361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68896" y="1947672"/>
            <a:ext cx="54864" cy="120700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88352" y="1929384"/>
            <a:ext cx="2706624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1" i="0">
                <a:solidFill>
                  <a:srgbClr val="07488E"/>
                </a:solidFill>
                <a:latin typeface="Arial"/>
                <a:ea typeface="微软雅黑"/>
              </a:rPr>
              <a:t>13</a:t>
            </a: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 万+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i="0">
                <a:solidFill>
                  <a:srgbClr val="192640"/>
                </a:solidFill>
                <a:latin typeface="微软雅黑"/>
                <a:ea typeface="微软雅黑"/>
              </a:rPr>
              <a:t>全国在营口腔医疗机构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8A99A8"/>
                </a:solidFill>
                <a:latin typeface="微软雅黑"/>
                <a:ea typeface="微软雅黑"/>
              </a:rPr>
              <a:t>民营机构占据绝对主体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93592"/>
            <a:ext cx="3072384" cy="15361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58184"/>
            <a:ext cx="54864" cy="120700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739896"/>
            <a:ext cx="2706624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1" i="0">
                <a:solidFill>
                  <a:srgbClr val="07488E"/>
                </a:solidFill>
                <a:latin typeface="Arial"/>
                <a:ea typeface="微软雅黑"/>
              </a:rPr>
              <a:t>1266</a:t>
            </a: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 家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i="0">
                <a:solidFill>
                  <a:srgbClr val="192640"/>
                </a:solidFill>
                <a:latin typeface="微软雅黑"/>
                <a:ea typeface="微软雅黑"/>
              </a:rPr>
              <a:t>口腔专科医院（2023）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 i="0">
                <a:solidFill>
                  <a:srgbClr val="8A99A8"/>
                </a:solidFill>
                <a:latin typeface="微软雅黑"/>
                <a:ea typeface="微软雅黑"/>
              </a:rPr>
              <a:t>较 2019 年 885 家增长 43%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68896" y="3593592"/>
            <a:ext cx="3072384" cy="1536192"/>
          </a:xfrm>
          <a:prstGeom prst="roundRect">
            <a:avLst>
              <a:gd name="adj" fmla="val 8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88352" y="3739896"/>
            <a:ext cx="2660904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政策东风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D8E8F6"/>
                </a:solidFill>
                <a:latin typeface="微软雅黑"/>
                <a:ea typeface="微软雅黑"/>
              </a:rPr>
              <a:t>种植牙集采后价格体系透明化，机构竞争从价格转向服务质量；医疗 AI 私有化部署采购持续升温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86400"/>
            <a:ext cx="11274552" cy="658368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7488E"/>
                </a:solidFill>
                <a:latin typeface="微软雅黑"/>
                <a:ea typeface="微软雅黑"/>
              </a:rPr>
              <a:t>客服与销售环节正成为口腔机构建立就医信任、实现经营转化的关键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362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9A8"/>
                </a:solidFill>
                <a:latin typeface="微软雅黑"/>
                <a:ea typeface="微软雅黑"/>
              </a:rPr>
              <a:t>数据来源：中国卫生健康统计年鉴 / 弗若斯特沙利文 / 医涯 DSO / 国家医保局（详见末页）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客服：高客单价项目的信任枢纽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WHY CUSTOMER SERVICE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01 市场与痛点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3749039" cy="31272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0"/>
            <a:ext cx="3291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 i="0">
                <a:solidFill>
                  <a:srgbClr val="07488E"/>
                </a:solidFill>
                <a:latin typeface="微软雅黑"/>
                <a:ea typeface="微软雅黑"/>
              </a:rPr>
              <a:t>种植牙、正畸等高客单价项目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涉及复杂治疗方案与较高费用，患者决策高度依赖客服的专业解释与信任构建。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sz="1150" b="0" i="0">
              <a:solidFill>
                <a:srgbClr val="5A6B7F"/>
              </a:solidFill>
              <a:latin typeface="微软雅黑"/>
              <a:ea typeface="微软雅黑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i="0">
                <a:solidFill>
                  <a:srgbClr val="192640"/>
                </a:solidFill>
                <a:latin typeface="微软雅黑"/>
                <a:ea typeface="微软雅黑"/>
              </a:rPr>
              <a:t>客服需要准确解释：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治疗细节与风险 / 预期效果 / 费用构成，并有效解答患者疑虑，促成治疗决策。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3749039" cy="1005840"/>
          </a:xfrm>
          <a:prstGeom prst="roundRect">
            <a:avLst>
              <a:gd name="adj" fmla="val 1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sz="1100" b="0" i="0" dirty="0" err="1">
                <a:solidFill>
                  <a:srgbClr val="C5DCF0"/>
                </a:solidFill>
                <a:latin typeface="微软雅黑"/>
                <a:ea typeface="微软雅黑"/>
              </a:rPr>
              <a:t>集采之后</a:t>
            </a:r>
            <a:endParaRPr sz="1100" b="0" i="0" dirty="0">
              <a:solidFill>
                <a:srgbClr val="C5DCF0"/>
              </a:solidFill>
              <a:latin typeface="微软雅黑"/>
              <a:ea typeface="微软雅黑"/>
            </a:endParaRPr>
          </a:p>
          <a:p>
            <a:pPr algn="ctr">
              <a:lnSpc>
                <a:spcPct val="125000"/>
              </a:lnSpc>
            </a:pPr>
            <a:r>
              <a:rPr sz="1250" b="1" i="0" dirty="0" err="1">
                <a:solidFill>
                  <a:srgbClr val="FFFFFF"/>
                </a:solidFill>
                <a:latin typeface="微软雅黑"/>
                <a:ea typeface="微软雅黑"/>
              </a:rPr>
              <a:t>客服沟通能力的战略价值进一步凸显</a:t>
            </a:r>
            <a:endParaRPr sz="1250" b="1" i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26280" y="1783080"/>
            <a:ext cx="71780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82312" y="2130552"/>
            <a:ext cx="603504" cy="603504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965960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92640"/>
                </a:solidFill>
                <a:latin typeface="微软雅黑"/>
                <a:ea typeface="微软雅黑"/>
              </a:rPr>
              <a:t>功能层面 · </a:t>
            </a:r>
            <a:r>
              <a:rPr sz="1400" b="1" i="0">
                <a:solidFill>
                  <a:srgbClr val="0F66AE"/>
                </a:solidFill>
                <a:latin typeface="微软雅黑"/>
                <a:ea typeface="微软雅黑"/>
              </a:rPr>
              <a:t>成交转化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高客单价项目的成交，高度依赖客服的专业解释与信任构建能力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300984"/>
            <a:ext cx="71780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782312" y="3648456"/>
            <a:ext cx="603504" cy="603504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483864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92640"/>
                </a:solidFill>
                <a:latin typeface="微软雅黑"/>
                <a:ea typeface="微软雅黑"/>
              </a:rPr>
              <a:t>认知层面 · </a:t>
            </a:r>
            <a:r>
              <a:rPr sz="1400" b="1" i="0">
                <a:solidFill>
                  <a:srgbClr val="0F66AE"/>
                </a:solidFill>
                <a:latin typeface="微软雅黑"/>
                <a:ea typeface="微软雅黑"/>
              </a:rPr>
              <a:t>服务竞争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集采后价格透明化，机构竞争从价格转向服务质量，客服成为差异化竞争力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4818888"/>
            <a:ext cx="71780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82312" y="5166359"/>
            <a:ext cx="603504" cy="603504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5001768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92640"/>
                </a:solidFill>
                <a:latin typeface="微软雅黑"/>
                <a:ea typeface="微软雅黑"/>
              </a:rPr>
              <a:t>情感层面 · </a:t>
            </a:r>
            <a:r>
              <a:rPr sz="1400" b="1" i="0">
                <a:solidFill>
                  <a:srgbClr val="0F66AE"/>
                </a:solidFill>
                <a:latin typeface="微软雅黑"/>
                <a:ea typeface="微软雅黑"/>
              </a:rPr>
              <a:t>品牌触点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客服是患者接触机构的第一触点，直接决定患者对机构品牌的信任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四大痛点：机构想用而不敢用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FOUR 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01 市场与痛点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057400"/>
            <a:ext cx="566928" cy="566928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7568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2640"/>
                </a:solidFill>
                <a:latin typeface="微软雅黑"/>
                <a:ea typeface="微软雅黑"/>
              </a:rPr>
              <a:t>话术不标准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07208"/>
            <a:ext cx="48828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客服质量参差不齐，新人在价格异议、投诉安抚等复杂场景应对不足，直接造成患者流失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78308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19672" y="2057400"/>
            <a:ext cx="566928" cy="566928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07568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2640"/>
                </a:solidFill>
                <a:latin typeface="微软雅黑"/>
                <a:ea typeface="微软雅黑"/>
              </a:rPr>
              <a:t>带教难复制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07208"/>
            <a:ext cx="48828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师徒模式依赖资深员工个人经验，无法标准化复制，占用大量人力产能，人才供给滞后于门店扩张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23943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4398263"/>
            <a:ext cx="566928" cy="566928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16551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2640"/>
                </a:solidFill>
                <a:latin typeface="微软雅黑"/>
                <a:ea typeface="微软雅黑"/>
              </a:rPr>
              <a:t>服务难量化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148071"/>
            <a:ext cx="48828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缺乏客观评估手段，管理者无法掌握团队能力状况，培训投入产出难以衡量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123943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19672" y="4398263"/>
            <a:ext cx="566928" cy="566928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416551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2640"/>
                </a:solidFill>
                <a:latin typeface="微软雅黑"/>
                <a:ea typeface="微软雅黑"/>
              </a:rPr>
              <a:t>大模型不敢用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148071"/>
            <a:ext cx="48828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通用大模型存在专业知识幻觉与患者数据合规风险，机构想用而不敢用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现有方案：四类路径均难解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EXISTING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01 市场与痛点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2688336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2688336" cy="841248"/>
          </a:xfrm>
          <a:prstGeom prst="roundRect">
            <a:avLst>
              <a:gd name="adj" fmla="val 1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师徒带教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C5DCF0"/>
                </a:solidFill>
                <a:latin typeface="微软雅黑"/>
                <a:ea typeface="微软雅黑"/>
              </a:rPr>
              <a:t>行业主流做法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25495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经验真实，但带教质量依赖个人、无法标准化，占用资深客服产能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1783080"/>
            <a:ext cx="2688336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19272" y="1783080"/>
            <a:ext cx="2688336" cy="841248"/>
          </a:xfrm>
          <a:prstGeom prst="roundRect">
            <a:avLst>
              <a:gd name="adj" fmla="val 1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通用培训服务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C5DCF0"/>
                </a:solidFill>
                <a:latin typeface="微软雅黑"/>
                <a:ea typeface="微软雅黑"/>
              </a:rPr>
              <a:t>线下课程 / 在线平台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25495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市场规模超千亿，但缺乏口腔专业内容与真实业务语境，学用脱节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2688336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1344" y="1783080"/>
            <a:ext cx="2688336" cy="841248"/>
          </a:xfrm>
          <a:prstGeom prst="roundRect">
            <a:avLst>
              <a:gd name="adj" fmla="val 1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通用 AI 陪练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C5DCF0"/>
                </a:solidFill>
                <a:latin typeface="微软雅黑"/>
                <a:ea typeface="微软雅黑"/>
              </a:rPr>
              <a:t>金融场景厂商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825495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已在银行保险落地，但缺口腔语料与医疗合规约束，难以迁移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1783080"/>
            <a:ext cx="2688336" cy="32918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43416" y="1783080"/>
            <a:ext cx="2688336" cy="841248"/>
          </a:xfrm>
          <a:prstGeom prst="roundRect">
            <a:avLst>
              <a:gd name="adj" fmla="val 1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头部自建内训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C5DCF0"/>
                </a:solidFill>
                <a:latin typeface="微软雅黑"/>
                <a:ea typeface="微软雅黑"/>
              </a:rPr>
              <a:t>连锁机构内训体系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825495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沉淀了话术与考核标准，但缺乏 AI 能力，仍以人工考核为主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40680"/>
            <a:ext cx="11274552" cy="713232"/>
          </a:xfrm>
          <a:prstGeom prst="roundRect">
            <a:avLst>
              <a:gd name="adj" fmla="val 12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空白地带：口腔专业知识 + 真实高转化话术 + 可量化评估 + 私有化数据安全 —— 市场尚无成熟供给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市场机会：连锁化浪潮下的刚性需求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MARKET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01 市场与痛点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488E"/>
                </a:solidFill>
                <a:latin typeface="微软雅黑"/>
                <a:ea typeface="微软雅黑"/>
              </a:rPr>
              <a:t>目标客户：规模化口腔连锁机构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34086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通策医疗</a:t>
            </a: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   3100 台牙椅 · 年门诊量 353 万人次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27248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25526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瑞尔集团</a:t>
            </a: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   15 城 123 家门店 · 年服务近 200 万人次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41648"/>
            <a:ext cx="5394960" cy="786384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4169663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泰康拜博</a:t>
            </a: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   近 50 城约 160 家口腔医疗机构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01768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此类机构客服团队规模庞大、培训需求刚性，普遍具备信息化预算，是私有化部署的理想客户。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全国超 13 万家口腔医疗机构，构成广阔的长期客户基础。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83080"/>
            <a:ext cx="5468112" cy="4343400"/>
          </a:xfrm>
          <a:prstGeom prst="roundRect">
            <a:avLst>
              <a:gd name="adj" fmla="val 6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可及市场测算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000" b="1" i="0">
                <a:solidFill>
                  <a:srgbClr val="F2C94C"/>
                </a:solidFill>
                <a:latin typeface="微软雅黑"/>
                <a:ea typeface="微软雅黑"/>
              </a:rPr>
              <a:t>≈1000 家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D8E8F6"/>
                </a:solidFill>
                <a:latin typeface="微软雅黑"/>
                <a:ea typeface="微软雅黑"/>
              </a:rPr>
              <a:t>头部及腰部连锁机构（基于公开数据的估算口径）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21608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000" b="1" i="0">
                <a:solidFill>
                  <a:srgbClr val="F2C94C"/>
                </a:solidFill>
                <a:latin typeface="微软雅黑"/>
                <a:ea typeface="微软雅黑"/>
              </a:rPr>
              <a:t>数亿元量级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D8E8F6"/>
                </a:solidFill>
                <a:latin typeface="微软雅黑"/>
                <a:ea typeface="微软雅黑"/>
              </a:rPr>
              <a:t>参照医疗 AI 私有化部署数百万元级中标金额，轻量级垂直应用保守定价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928616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000" b="1" i="0">
                <a:solidFill>
                  <a:srgbClr val="F2C94C"/>
                </a:solidFill>
                <a:latin typeface="微软雅黑"/>
                <a:ea typeface="微软雅黑"/>
              </a:rPr>
              <a:t>产业顺风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D8E8F6"/>
                </a:solidFill>
                <a:latin typeface="微软雅黑"/>
                <a:ea typeface="微软雅黑"/>
              </a:rPr>
              <a:t>连锁化率提升 · 医保控费推动向服务要效益 · 私有化采购升温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6400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DC3E9"/>
                </a:solidFill>
                <a:latin typeface="Arial"/>
                <a:ea typeface="微软雅黑"/>
              </a:rPr>
              <a:t>SHANGHAI UNIVERSITY</a:t>
            </a:r>
          </a:p>
        </p:txBody>
      </p:sp>
      <p:pic>
        <p:nvPicPr>
          <p:cNvPr id="5" name="Picture 4" descr="badge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371600" cy="560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C9DDF0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3880"/>
                </a:solidFill>
                <a:latin typeface="微软雅黑"/>
                <a:ea typeface="微软雅黑"/>
              </a:rPr>
              <a:t>产品与创新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Arial"/>
                <a:ea typeface="微软雅黑"/>
              </a:rPr>
              <a:t>PRODUCT &amp; INNOVATION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2011680" cy="2794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44348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43434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产品总览：话术学习、实战对练、效果评估的全流程闭环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48920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8006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产品演示：微信小程序学员端 + 管理端看板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53492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8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三大创新：语料构建方式 / 多维评价机制 / 全流程训练闭环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7488E"/>
                </a:solidFill>
                <a:latin typeface="Arial"/>
                <a:ea typeface="微软雅黑"/>
              </a:rPr>
              <a:t>09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72DF922-1C2C-D26B-FE95-95C52361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201" y="2383691"/>
            <a:ext cx="6157494" cy="44626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产品总览：学 · 练 · 评全流程闭环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PRODUCT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02 产品与创新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83080" y="2121408"/>
            <a:ext cx="914400" cy="91440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</a:rPr>
              <a:t>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话术学习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611880"/>
            <a:ext cx="29809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真实高转化医患沟通记录提炼的“最佳实践”话术库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覆盖咨询解答、价格协商、投诉安抚等典型场景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41648" y="3017520"/>
            <a:ext cx="256032" cy="256032"/>
          </a:xfrm>
          <a:prstGeom prst="rightArrow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15968" y="182880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41848" y="2121408"/>
            <a:ext cx="914400" cy="91440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</a:rPr>
              <a:t>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2004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实战对练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611880"/>
            <a:ext cx="29809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学员随时与 AI 扮演的虚拟患者进行多轮对练，沉浸式、低风险、可复用，24 小时可用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00416" y="3017520"/>
            <a:ext cx="256032" cy="256032"/>
          </a:xfrm>
          <a:prstGeom prst="rightArrow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74736" y="182880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00616" y="2121408"/>
            <a:ext cx="914400" cy="91440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</a:rPr>
              <a:t>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2004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效果评估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611880"/>
            <a:ext cx="29809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从医学准确性、沟通技巧、转化效能与伦理合规等维度即时评分，输出训练报告与改进建议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060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95604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学员端 · 微信小程序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多轮对练 / 话术评分 / 实时反馈 / 训练报告，无需额外硬件投入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80060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495604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管理端 · 机构管理后台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团队能力可量化追踪，培训效果首次可以被客观衡量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产品演示 ①：场景选择与模拟对练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DEMO — SCENARIO &amp;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02 产品与创新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2240280" cy="39319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1" name="Picture 10" descr="phone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74335"/>
            <a:ext cx="1984248" cy="33494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82472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训练中心 · 场景选择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783080"/>
            <a:ext cx="2240280" cy="39319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4" name="Picture 13" descr="phone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2105835"/>
            <a:ext cx="1984248" cy="32864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0" y="582472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对练对话 · 虚拟患者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74519"/>
            <a:ext cx="15240" cy="402336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0" y="1901951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874519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典型服务场景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围绕咨询解答、价格协商、投诉安抚等高频复杂场景组织训练内容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3227832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200400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多轮情境对练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AI 扮演虚拟患者，模拟真实沟通中的情绪化表达与连续追问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0" y="4553712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526280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低风险可复用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新人在无真实患者风险的环境中反复演练，快速完成技能内化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产品演示 ②：话术学习与即时评分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DEMO — PHRASE LIBRARY &amp;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02 产品与创新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2240280" cy="39319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1" name="Picture 10" descr="phone_phr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67721"/>
            <a:ext cx="1984248" cy="33626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82472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话术库 · 最佳实践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783080"/>
            <a:ext cx="2240280" cy="39319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4" name="Picture 13" descr="phone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941649"/>
            <a:ext cx="1984248" cy="36147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0" y="582472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训练结果 · 多维评分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74519"/>
            <a:ext cx="15240" cy="402336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0" y="1901951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874519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最佳实践话术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从脱敏医患沟通记录中提取高转化、高满意度的服务话术片段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3227832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200400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多维度即时评分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医学准确性 / 沟通技巧 / 转化效能 / 伦理合规等维度即时反馈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0" y="4553712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526280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逐轮改进建议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不仅给出分数，更指出问题所在并推荐更优表达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产品演示 ③：训练报告与管理看板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DEMO — REPORT &amp;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02 产品与创新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2240280" cy="39319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1" name="Picture 10" descr="phon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15549"/>
            <a:ext cx="1984248" cy="34669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82472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成长档案 · 能力画像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783080"/>
            <a:ext cx="2240280" cy="39319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4" name="Picture 13" descr="phone_ad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2390593"/>
            <a:ext cx="1984248" cy="27168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0" y="582472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92640"/>
                </a:solidFill>
                <a:latin typeface="微软雅黑"/>
                <a:ea typeface="微软雅黑"/>
              </a:rPr>
              <a:t>管理端 · 团队看板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74519"/>
            <a:ext cx="15240" cy="402336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0" y="1901951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874519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个人训练报告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历史记录与能力画像沉淀，进步轨迹可视化、可追踪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3227832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200400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团队管理看板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管理者客观掌握团队能力状况与短板，培训有的放矢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0" y="4553712"/>
            <a:ext cx="365760" cy="36576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526280"/>
            <a:ext cx="5367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效果可量化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客服能力首次可量化、可追踪，培训投入产出可衡量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产品创新：从知识灌输到技能锤炼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PRODUCT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02 产品与创新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11880" cy="128016"/>
          </a:xfrm>
          <a:prstGeom prst="rect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2212848"/>
            <a:ext cx="640080" cy="64008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63240"/>
            <a:ext cx="30266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语料构建方式创新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基于一线实战数据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77640"/>
            <a:ext cx="3026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利用脱敏后的真实医患沟通记录筛选训练，提取高转化、高满意度的最佳实践片段，比传统教案更贴合口腔医疗实际业务需求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8288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88536" y="1828800"/>
            <a:ext cx="3611880" cy="128016"/>
          </a:xfrm>
          <a:prstGeom prst="rect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81144" y="2212848"/>
            <a:ext cx="640080" cy="64008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063240"/>
            <a:ext cx="30266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多维评价机制创新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能力首次可量化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977640"/>
            <a:ext cx="3026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从医学准确性、沟通技巧、转化效能与伦理合规等维度即时评价与反馈，机构管理者得以客观掌握团队能力状况与培训投入产出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18288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19872" y="1828800"/>
            <a:ext cx="3611880" cy="128016"/>
          </a:xfrm>
          <a:prstGeom prst="rect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80" y="2212848"/>
            <a:ext cx="640080" cy="64008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63240"/>
            <a:ext cx="30266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训练闭环模式创新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学练评一体化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77640"/>
            <a:ext cx="3026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学、练、评一体化设计配合 24 小时可用的沉浸式对练，培训从一次性知识灌输转向持续的技能锤炼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6400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DC3E9"/>
                </a:solidFill>
                <a:latin typeface="Arial"/>
                <a:ea typeface="微软雅黑"/>
              </a:rPr>
              <a:t>SHANGHAI UNIVERSITY</a:t>
            </a:r>
          </a:p>
        </p:txBody>
      </p:sp>
      <p:pic>
        <p:nvPicPr>
          <p:cNvPr id="5" name="Picture 4" descr="badge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371600" cy="560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C9DDF0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3880"/>
                </a:solidFill>
                <a:latin typeface="微软雅黑"/>
                <a:ea typeface="微软雅黑"/>
              </a:rPr>
              <a:t>技术与壁垒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Arial"/>
                <a:ea typeface="微软雅黑"/>
              </a:rPr>
              <a:t>TECHNOLOGY &amp; MOAT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2011680" cy="2794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44348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43434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系统架构：C++ 高性能后端 + 微信小程序，支持私有化交付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48920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8006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数据与模型：垂直语料库 + Qwen3-4B LoRA 领域微调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53492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8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评测体系：OpenCompass 自动评测 + 人工评估双重保障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8064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57150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核心优势：垂直深度与合规能力构成的竞争壁垒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7488E"/>
                </a:solidFill>
                <a:latin typeface="Arial"/>
                <a:ea typeface="微软雅黑"/>
              </a:rPr>
              <a:t>15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338EF2E-3C2A-69D4-D4D5-EAB7AFA66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201" y="2383691"/>
            <a:ext cx="6157494" cy="44626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系统架构：可私有化交付的全栈方案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03 技术与壁垒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234440" cy="713232"/>
          </a:xfrm>
          <a:prstGeom prst="roundRect">
            <a:avLst>
              <a:gd name="adj" fmla="val 12000"/>
            </a:avLst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783080"/>
            <a:ext cx="6949440" cy="713232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微信小程序（学员端） · 管理后台（机构端）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42615"/>
            <a:ext cx="1234440" cy="713232"/>
          </a:xfrm>
          <a:prstGeom prst="roundRect">
            <a:avLst>
              <a:gd name="adj" fmla="val 12000"/>
            </a:avLst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服务层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642615"/>
            <a:ext cx="6949440" cy="713232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C++ Crow 高性能后端 · API 网关 · 对话管理 / 话术评分 / 实时反馈 / 训练报告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02151"/>
            <a:ext cx="1234440" cy="713232"/>
          </a:xfrm>
          <a:prstGeom prst="roundRect">
            <a:avLst>
              <a:gd name="adj" fmla="val 12000"/>
            </a:avLst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模型层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502151"/>
            <a:ext cx="6949440" cy="713232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Qwen3-4B-Instruct-2507 + LoRA 领域微调 · 医学知识与服务逻辑双重对齐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61688"/>
            <a:ext cx="1234440" cy="713232"/>
          </a:xfrm>
          <a:prstGeom prst="roundRect">
            <a:avLst>
              <a:gd name="adj" fmla="val 12000"/>
            </a:avLst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361688"/>
            <a:ext cx="6949440" cy="713232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MySQL 业务数据 · 高转化话术语料库（脱敏医患沟通记录）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21223"/>
            <a:ext cx="1234440" cy="713232"/>
          </a:xfrm>
          <a:prstGeom prst="roundRect">
            <a:avLst>
              <a:gd name="adj" fmla="val 12000"/>
            </a:avLst>
          </a:prstGeom>
          <a:solidFill>
            <a:srgbClr val="003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部署层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221223"/>
            <a:ext cx="6949440" cy="713232"/>
          </a:xfrm>
          <a:prstGeom prst="roundRect">
            <a:avLst>
              <a:gd name="adj" fmla="val 12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Docker 容器化 · 私有化部署至客户自有环境 · 数据不出域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783080"/>
            <a:ext cx="2651760" cy="41605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205740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 i="0">
                <a:solidFill>
                  <a:srgbClr val="07488E"/>
                </a:solidFill>
                <a:latin typeface="微软雅黑"/>
                <a:ea typeface="微软雅黑"/>
              </a:rPr>
              <a:t>4B 小模型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本地推理，常规 GPU 可运行，私有化硬件成本可控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38328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 i="0">
                <a:solidFill>
                  <a:srgbClr val="07488E"/>
                </a:solidFill>
                <a:latin typeface="微软雅黑"/>
                <a:ea typeface="微软雅黑"/>
              </a:rPr>
              <a:t>高性能后端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C++ 技术栈保障多轮对话的响应效率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70916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 i="0">
                <a:solidFill>
                  <a:srgbClr val="07488E"/>
                </a:solidFill>
                <a:latin typeface="微软雅黑"/>
                <a:ea typeface="微软雅黑"/>
              </a:rPr>
              <a:t>数据合规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语料脱敏 + 数据不出域，契合医疗数据法规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语料库：从海量医疗问答到最佳实践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CORPUS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03 技术与壁垒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488E"/>
                </a:solidFill>
                <a:latin typeface="微软雅黑"/>
                <a:ea typeface="微软雅黑"/>
              </a:rPr>
              <a:t>两大开源医疗数据集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488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304288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i="0">
                <a:solidFill>
                  <a:srgbClr val="192640"/>
                </a:solidFill>
                <a:latin typeface="Arial"/>
                <a:ea typeface="微软雅黑"/>
              </a:rPr>
              <a:t>cMedQA2</a:t>
            </a: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  中文医疗问答数据集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约 10.8 万个医疗健康问题 · 20.4 万条答案，已匿名化处理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813048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i="0">
                <a:solidFill>
                  <a:srgbClr val="192640"/>
                </a:solidFill>
                <a:latin typeface="Arial"/>
                <a:ea typeface="微软雅黑"/>
              </a:rPr>
              <a:t>CMDD</a:t>
            </a: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  中文医疗问答数据集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约 79.2 万条真实医患问答记录，覆盖多科室，问答关系明确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5212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7488E"/>
                </a:solidFill>
                <a:latin typeface="微软雅黑"/>
                <a:ea typeface="微软雅黑"/>
              </a:rPr>
              <a:t>处理流程：</a:t>
            </a: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筛选清洗口腔相关内容 → 结构化标注 → 提取高转化、高满意度话术片段 → 结合专业规范构建可迭代语料库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83080"/>
            <a:ext cx="57607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9659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488E"/>
                </a:solidFill>
                <a:latin typeface="微软雅黑"/>
                <a:ea typeface="微软雅黑"/>
              </a:rPr>
              <a:t>典型场景补充构造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23160"/>
            <a:ext cx="5212080" cy="475488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92640"/>
                </a:solidFill>
                <a:latin typeface="微软雅黑"/>
                <a:ea typeface="微软雅黑"/>
              </a:rPr>
              <a:t>咨询解答 —— 治疗细节 / 风险 / 预期效果解释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44952"/>
            <a:ext cx="5212080" cy="475488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92640"/>
                </a:solidFill>
                <a:latin typeface="微软雅黑"/>
                <a:ea typeface="微软雅黑"/>
              </a:rPr>
              <a:t>价格协商 —— 费用构成说明与价格异议处理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66744"/>
            <a:ext cx="5212080" cy="475488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92640"/>
                </a:solidFill>
                <a:latin typeface="微软雅黑"/>
                <a:ea typeface="微软雅黑"/>
              </a:rPr>
              <a:t>投诉安抚 —— 情绪化患者沟通与信任修复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88536"/>
            <a:ext cx="5212080" cy="475488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92640"/>
                </a:solidFill>
                <a:latin typeface="微软雅黑"/>
                <a:ea typeface="微软雅黑"/>
              </a:rPr>
              <a:t>项目推荐 —— 高客单价项目的专业建议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521208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“最佳实践语料库”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D8E8F6"/>
                </a:solidFill>
                <a:latin typeface="微软雅黑"/>
                <a:ea typeface="微软雅黑"/>
              </a:rPr>
              <a:t>高质量 · 多维度 · 可迭代，为模型训练与系统应用提供数据基础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领域微调：小参数规模的专业化改造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DOMAIN FINE-TUNING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03 技术与壁垒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685800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i="0">
                <a:solidFill>
                  <a:srgbClr val="8A99A8"/>
                </a:solidFill>
                <a:latin typeface="微软雅黑"/>
                <a:ea typeface="微软雅黑"/>
              </a:rPr>
              <a:t>基础模型｜</a:t>
            </a:r>
            <a:r>
              <a:rPr sz="1350" b="1" i="0">
                <a:solidFill>
                  <a:srgbClr val="07488E"/>
                </a:solidFill>
                <a:latin typeface="微软雅黑"/>
                <a:ea typeface="微软雅黑"/>
              </a:rPr>
              <a:t>Qwen3-4B-Instruct-2507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阿里云开源模型，语言理解与逻辑推理表现突出；4B 规模兼顾性能与部署成本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82696"/>
            <a:ext cx="685800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342900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i="0">
                <a:solidFill>
                  <a:srgbClr val="8A99A8"/>
                </a:solidFill>
                <a:latin typeface="微软雅黑"/>
                <a:ea typeface="微软雅黑"/>
              </a:rPr>
              <a:t>微调框架｜</a:t>
            </a:r>
            <a:r>
              <a:rPr sz="1350" b="1" i="0">
                <a:solidFill>
                  <a:srgbClr val="07488E"/>
                </a:solidFill>
                <a:latin typeface="微软雅黑"/>
                <a:ea typeface="微软雅黑"/>
              </a:rPr>
              <a:t>LLaMA-Factory + LoRA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低秩分解仅训练少量新增参数，有限算力下显著降低训练成本与显存占用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82312"/>
            <a:ext cx="6858000" cy="13716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4928616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i="0">
                <a:solidFill>
                  <a:srgbClr val="8A99A8"/>
                </a:solidFill>
                <a:latin typeface="微软雅黑"/>
                <a:ea typeface="微软雅黑"/>
              </a:rPr>
              <a:t>对齐机制｜</a:t>
            </a:r>
            <a:r>
              <a:rPr sz="1350" b="1" i="0">
                <a:solidFill>
                  <a:srgbClr val="07488E"/>
                </a:solidFill>
                <a:latin typeface="微软雅黑"/>
                <a:ea typeface="微软雅黑"/>
              </a:rPr>
              <a:t>医学知识 + 服务逻辑双重对齐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结合情境敏感指令构建，抑制垂直领域幻觉，输出既符合循证医学准确性又具高情商服务特质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783080"/>
            <a:ext cx="4114800" cy="4343400"/>
          </a:xfrm>
          <a:prstGeom prst="roundRect">
            <a:avLst>
              <a:gd name="adj" fmla="val 6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2011680"/>
            <a:ext cx="35661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为什么是 4B？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50" b="0" i="0">
                <a:solidFill>
                  <a:srgbClr val="DDEAF7"/>
                </a:solidFill>
                <a:latin typeface="微软雅黑"/>
                <a:ea typeface="微软雅黑"/>
              </a:rPr>
              <a:t>✓ 性能满足口腔服务语义理解与话术规范性要求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50" b="0" i="0">
                <a:solidFill>
                  <a:srgbClr val="DDEAF7"/>
                </a:solidFill>
                <a:latin typeface="微软雅黑"/>
                <a:ea typeface="微软雅黑"/>
              </a:rPr>
              <a:t>✓ 私有化部署硬件门槛大幅降低，契合连锁机构成本约束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50" b="0" i="0">
                <a:solidFill>
                  <a:srgbClr val="DDEAF7"/>
                </a:solidFill>
                <a:latin typeface="微软雅黑"/>
                <a:ea typeface="微软雅黑"/>
              </a:rPr>
              <a:t>✓ 开源许可清晰，私有化后客户获得使用权，成果转化无权属障碍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endParaRPr sz="1050" b="0" i="0">
              <a:solidFill>
                <a:srgbClr val="DDEAF7"/>
              </a:solidFill>
              <a:latin typeface="微软雅黑"/>
              <a:ea typeface="微软雅黑"/>
            </a:endParaRP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1" i="0">
                <a:solidFill>
                  <a:srgbClr val="F2C94C"/>
                </a:solidFill>
                <a:latin typeface="微软雅黑"/>
                <a:ea typeface="微软雅黑"/>
              </a:rPr>
              <a:t>算力保障：上海大学“自强 5000”高性能计算平台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评测体系：自动评测 + 人工评估双保险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EVALUATION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03 技术与壁垒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07488E"/>
                </a:solidFill>
                <a:latin typeface="微软雅黑"/>
                <a:ea typeface="微软雅黑"/>
              </a:rPr>
              <a:t>OpenCompass 自动评测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上海人工智能实验室开源评测体系，支持百余个评测数据集</a:t>
            </a:r>
          </a:p>
          <a:p>
            <a:pPr algn="l">
              <a:lnSpc>
                <a:spcPct val="128000"/>
              </a:lnSpc>
            </a:pPr>
            <a:endParaRPr sz="1100" b="0" i="0">
              <a:solidFill>
                <a:srgbClr val="5A6B7F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采用判别式评测：计算候选答案困惑度，客观评价模型的理解与判断能力</a:t>
            </a:r>
          </a:p>
          <a:p>
            <a:pPr algn="l">
              <a:lnSpc>
                <a:spcPct val="128000"/>
              </a:lnSpc>
            </a:pPr>
            <a:endParaRPr sz="1100" b="0" i="0">
              <a:solidFill>
                <a:srgbClr val="5A6B7F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0F66AE"/>
                </a:solidFill>
                <a:latin typeface="微软雅黑"/>
                <a:ea typeface="微软雅黑"/>
              </a:rPr>
              <a:t>开源可复现 · 维度全面 · 分布式高效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07488E"/>
                </a:solidFill>
                <a:latin typeface="微软雅黑"/>
                <a:ea typeface="微软雅黑"/>
              </a:rPr>
              <a:t>人工评估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对模型实际使用中的表现进行人工打分，与自动化评测结合形成综合结论</a:t>
            </a:r>
          </a:p>
          <a:p>
            <a:pPr algn="l">
              <a:lnSpc>
                <a:spcPct val="128000"/>
              </a:lnSpc>
            </a:pPr>
            <a:endParaRPr sz="1100" b="0" i="0">
              <a:solidFill>
                <a:srgbClr val="5A6B7F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评估维度：回复准确性 · 话术合理性 · 用户满意度</a:t>
            </a:r>
          </a:p>
          <a:p>
            <a:pPr algn="l">
              <a:lnSpc>
                <a:spcPct val="128000"/>
              </a:lnSpc>
            </a:pPr>
            <a:endParaRPr sz="1100" b="0" i="0">
              <a:solidFill>
                <a:srgbClr val="5A6B7F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0F66AE"/>
                </a:solidFill>
                <a:latin typeface="微软雅黑"/>
                <a:ea typeface="微软雅黑"/>
              </a:rPr>
              <a:t>过程管理：每周交流 + 文档管理 + 指导教师定期把关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11274552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1560" y="5285232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医学准确性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5330952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8A99A8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5285232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沟通技巧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5330952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8A99A8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5285232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转化效能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5330952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8A99A8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5285232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伦理合规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5330952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8A99A8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5285232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用户满意度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9A8"/>
                </a:solidFill>
                <a:latin typeface="微软雅黑"/>
                <a:ea typeface="微软雅黑"/>
              </a:rPr>
              <a:t>系统内置的多维评分维度，覆盖服务质量的关键方面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核心优势：垂直深度构筑护城河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CORE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03 技术与壁垒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对比直接调用通用大模型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经领域微调后，在口腔服务语义理解与话术规范性上显著更优；医学知识对齐机制抑制幻觉与合规风险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对比通用 AI 陪练产品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拥有口腔垂直语料与医疗合规对齐机制构成的独特数据壁垒；4B 参数规模使私有化硬件成本可控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343400"/>
            <a:ext cx="181965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500" b="1" i="0">
                <a:solidFill>
                  <a:srgbClr val="9DC3E9"/>
                </a:solidFill>
                <a:latin typeface="Arial"/>
                <a:ea typeface="微软雅黑"/>
              </a:rPr>
              <a:t>01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垂直语料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真实高转化医患语料持续沉淀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4056" y="41605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98648" y="4343400"/>
            <a:ext cx="181965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500" b="1" i="0">
                <a:solidFill>
                  <a:srgbClr val="9DC3E9"/>
                </a:solidFill>
                <a:latin typeface="Arial"/>
                <a:ea typeface="微软雅黑"/>
              </a:rPr>
              <a:t>02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合规纵深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医学知识与服务逻辑双重对齐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0912" y="41605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75504" y="4343400"/>
            <a:ext cx="181965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500" b="1" i="0">
                <a:solidFill>
                  <a:srgbClr val="9DC3E9"/>
                </a:solidFill>
                <a:latin typeface="Arial"/>
                <a:ea typeface="微软雅黑"/>
              </a:rPr>
              <a:t>03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成本可控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4B 小模型，常规 GPU 可跑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41605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4343400"/>
            <a:ext cx="181965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500" b="1" i="0">
                <a:solidFill>
                  <a:srgbClr val="9DC3E9"/>
                </a:solidFill>
                <a:latin typeface="Arial"/>
                <a:ea typeface="微软雅黑"/>
              </a:rPr>
              <a:t>04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数据安全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私有化部署，数据不出域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4624" y="41605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29216" y="4343400"/>
            <a:ext cx="181965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500" b="1" i="0">
                <a:solidFill>
                  <a:srgbClr val="9DC3E9"/>
                </a:solidFill>
                <a:latin typeface="Arial"/>
                <a:ea typeface="微软雅黑"/>
              </a:rPr>
              <a:t>05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生态开放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全栈开源组件，可审计可迭代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6400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DC3E9"/>
                </a:solidFill>
                <a:latin typeface="Arial"/>
                <a:ea typeface="微软雅黑"/>
              </a:rPr>
              <a:t>SHANGHAI UNIVERSITY</a:t>
            </a:r>
          </a:p>
        </p:txBody>
      </p:sp>
      <p:pic>
        <p:nvPicPr>
          <p:cNvPr id="5" name="Picture 4" descr="badge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1371600" cy="560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C9DDF0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3880"/>
                </a:solidFill>
                <a:latin typeface="微软雅黑"/>
                <a:ea typeface="微软雅黑"/>
              </a:rPr>
              <a:t>商业与市场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Arial"/>
                <a:ea typeface="微软雅黑"/>
              </a:rPr>
              <a:t>BUSINESS &amp; GO-TO-MARKET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2011680" cy="2794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44348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43434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商业模式：私有化部署 + 年度服务费的 B2B 模式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48920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8006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定价锚定：参照公开可比交易的轻量级定价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53492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8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市场路径：天使客户 → 小规模扩张 → 大规模复制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8064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57150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竞争格局：错位竞争与四重壁垒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7488E"/>
                </a:solidFill>
                <a:latin typeface="Arial"/>
                <a:ea typeface="微软雅黑"/>
              </a:rPr>
              <a:t>21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3AAA047-A733-BFA7-9256-931867024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201" y="2383691"/>
            <a:ext cx="6157494" cy="44626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商业模式：私有化部署 + 年度服务费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04 商业与市场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一次性部署费</a:t>
            </a:r>
            <a:r>
              <a:rPr sz="1100" b="0" i="0">
                <a:solidFill>
                  <a:srgbClr val="C5DCF0"/>
                </a:solidFill>
                <a:latin typeface="微软雅黑"/>
                <a:ea typeface="微软雅黑"/>
              </a:rPr>
              <a:t>（数十万元级）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 i="0">
                <a:solidFill>
                  <a:srgbClr val="DDEAF7"/>
                </a:solidFill>
                <a:latin typeface="微软雅黑"/>
                <a:ea typeface="微软雅黑"/>
              </a:rPr>
              <a:t>系统安装 · 模型适配 · 语料初始化 · 管理员培训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A9C6E4"/>
                </a:solidFill>
                <a:latin typeface="微软雅黑"/>
                <a:ea typeface="微软雅黑"/>
              </a:rPr>
              <a:t>最终定价以试点验证为准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8620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年度服务费</a:t>
            </a:r>
            <a:r>
              <a:rPr sz="1100" b="0" i="0">
                <a:solidFill>
                  <a:srgbClr val="D3E6F5"/>
                </a:solidFill>
                <a:latin typeface="微软雅黑"/>
                <a:ea typeface="微软雅黑"/>
              </a:rPr>
              <a:t>（按部署费一定比例）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 i="0">
                <a:solidFill>
                  <a:srgbClr val="E3F0FA"/>
                </a:solidFill>
                <a:latin typeface="微软雅黑"/>
                <a:ea typeface="微软雅黑"/>
              </a:rPr>
              <a:t>模型迭代 · 场景语料库更新 · 运维支持 · 年度效果报告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C9E0F2"/>
                </a:solidFill>
                <a:latin typeface="微软雅黑"/>
                <a:ea typeface="微软雅黑"/>
              </a:rPr>
              <a:t>持续服务形成续费自然理由，收入结构逐年优化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488E"/>
                </a:solidFill>
                <a:latin typeface="微软雅黑"/>
                <a:ea typeface="微软雅黑"/>
              </a:rPr>
              <a:t>对客户的三大价值主张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4028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56832" y="2514600"/>
            <a:ext cx="548640" cy="54864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386584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数据不出域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部署于客户自有环境或专属云，契合医疗数据合规要求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483864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56832" y="3758184"/>
            <a:ext cx="548640" cy="54864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30168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业务深度对齐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话术体系与机构自身业务深度对齐，而非通用模板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2744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56832" y="5001768"/>
            <a:ext cx="548640" cy="54864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873752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效果可量化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客服能力可量化追踪，培训效果首次可以被客观衡量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定价锚定：轻量级垂直应用的合理区间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PRICING ANCHOR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04 商业与市场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488E"/>
                </a:solidFill>
                <a:latin typeface="微软雅黑"/>
                <a:ea typeface="微软雅黑"/>
              </a:rPr>
              <a:t>医疗 AI 私有化部署公开可比交易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59152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7488E"/>
                </a:solidFill>
                <a:latin typeface="Arial"/>
                <a:ea typeface="微软雅黑"/>
              </a:rPr>
              <a:t>320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万元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68879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连云港市第一人民医院 AI 大模型部署算力采购预算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7488E"/>
                </a:solidFill>
                <a:latin typeface="Arial"/>
                <a:ea typeface="微软雅黑"/>
              </a:rPr>
              <a:t>1190.7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万元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8404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同济大学跨模态大模型与具身智能 AI 系统中标金额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本项目定位轻量级垂直应用，部署费拟定数十万元级，显著低于通用大模型项目门槛，与连锁机构信息化预算相匹配。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783080"/>
            <a:ext cx="5349240" cy="4343400"/>
          </a:xfrm>
          <a:prstGeom prst="roundRect">
            <a:avLst>
              <a:gd name="adj" fmla="val 6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0116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跨行业商业化验证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514600"/>
            <a:ext cx="4800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4000" b="1" i="0">
                <a:solidFill>
                  <a:srgbClr val="F2C94C"/>
                </a:solidFill>
                <a:latin typeface="Arial"/>
                <a:ea typeface="微软雅黑"/>
              </a:rPr>
              <a:t>-32%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DDEAF7"/>
                </a:solidFill>
                <a:latin typeface="微软雅黑"/>
                <a:ea typeface="微软雅黑"/>
              </a:rPr>
              <a:t>中关村科金为广州银行信用卡中心打造智能陪练后，培训费用降低约 32%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60520"/>
            <a:ext cx="4800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 i="0">
                <a:solidFill>
                  <a:srgbClr val="DDEAF7"/>
                </a:solidFill>
                <a:latin typeface="微软雅黑"/>
                <a:ea typeface="微软雅黑"/>
              </a:rPr>
              <a:t>智能陪练已在金融领域获得商业化验证，为口腔医疗场景落地提供跨行业参照；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 i="0">
                <a:solidFill>
                  <a:srgbClr val="DDEAF7"/>
                </a:solidFill>
                <a:latin typeface="微软雅黑"/>
                <a:ea typeface="微软雅黑"/>
              </a:rPr>
              <a:t>2025 年以来多地医院已启动 AI 大模型私有化部署采购，印证医疗机构对私有化 AI 的真实付费意愿。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市场路径：验证 → 复制 → 规模化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GO-TO-MARKET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04 商业与市场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5DCF0"/>
                </a:solidFill>
                <a:latin typeface="微软雅黑"/>
                <a:ea typeface="微软雅黑"/>
              </a:rPr>
              <a:t>第一阶段</a:t>
            </a:r>
          </a:p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天使客户期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788920"/>
            <a:ext cx="309067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依托上海大学科研合作网络与行业学术渠道，以联合研发或优惠试点完成 1-2 家头部连锁私有化部署，跑通交付流程、积累效果证据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9936" y="3017520"/>
            <a:ext cx="219456" cy="219456"/>
          </a:xfrm>
          <a:prstGeom prst="rightArrow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15968" y="182880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15968" y="182880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5DCF0"/>
                </a:solidFill>
                <a:latin typeface="微软雅黑"/>
                <a:ea typeface="微软雅黑"/>
              </a:rPr>
              <a:t>第二阶段</a:t>
            </a:r>
          </a:p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小规模扩张期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88920"/>
            <a:ext cx="309067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以上岗周期缩短、培训成本下降、转化率提升等量化成果为卖点定向销售，三年内客户扩展至数十家，建设小型交付与商务团队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18704" y="3017520"/>
            <a:ext cx="219456" cy="219456"/>
          </a:xfrm>
          <a:prstGeom prst="rightArrow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74736" y="182880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74736" y="182880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003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5DCF0"/>
                </a:solidFill>
                <a:latin typeface="微软雅黑"/>
                <a:ea typeface="微软雅黑"/>
              </a:rPr>
              <a:t>第三阶段</a:t>
            </a:r>
          </a:p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大规模复制期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88920"/>
            <a:ext cx="309067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部署流程标准化、产品化，借助行业协会、口腔展会与渠道伙伴向区域连锁与单体大型医院推广，形成规模化收入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37760"/>
            <a:ext cx="1127455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7488E"/>
                </a:solidFill>
                <a:latin typeface="微软雅黑"/>
                <a:ea typeface="微软雅黑"/>
              </a:rPr>
              <a:t>客户闭环：</a:t>
            </a:r>
            <a:r>
              <a:rPr sz="1150" b="0" i="0">
                <a:solidFill>
                  <a:srgbClr val="5A6B7F"/>
                </a:solidFill>
                <a:latin typeface="微软雅黑"/>
                <a:ea typeface="微软雅黑"/>
              </a:rPr>
              <a:t>使用中沉淀的话术与评价数据经脱敏授权后反哺语料库，系统对老客户愈发精准，黏性随使用时间增强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竞争格局：错位竞争与四重壁垒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COMPETITION &amp; 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04 商业与市场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92640"/>
                </a:solidFill>
                <a:latin typeface="微软雅黑"/>
                <a:ea typeface="微软雅黑"/>
              </a:rPr>
              <a:t>与通用厂商是错位竞争：对方强于通用平台与渠道，本项目强于口腔垂直深度与医疗合规能力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21408"/>
            <a:ext cx="2697480" cy="457200"/>
          </a:xfrm>
          <a:prstGeom prst="roundRect">
            <a:avLst>
              <a:gd name="adj" fmla="val 14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关键维度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121408"/>
            <a:ext cx="2697480" cy="457200"/>
          </a:xfrm>
          <a:prstGeom prst="roundRect">
            <a:avLst>
              <a:gd name="adj" fmla="val 14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本项目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121408"/>
            <a:ext cx="2697480" cy="457200"/>
          </a:xfrm>
          <a:prstGeom prst="roundRect">
            <a:avLst>
              <a:gd name="adj" fmla="val 14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通用 AI 陪练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3416" y="2121408"/>
            <a:ext cx="2697480" cy="457200"/>
          </a:xfrm>
          <a:prstGeom prst="roundRect">
            <a:avLst>
              <a:gd name="adj" fmla="val 14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直接使用通用大模型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51760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口腔专业语料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2651760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✓ 真实高转化语料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51760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✕ 缺失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2651760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✕ 缺失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27248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医疗合规对齐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9272" y="3127248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✓ 双重对齐机制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127248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✕ 按金融场景设计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3127248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△ 幻觉风险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02736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私有化部署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9272" y="3602736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✓ 数据不出域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02736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△ 多为公有云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3416" y="3602736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✕ 数据合规隐患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78224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量化评估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9272" y="4078224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✓ 多维评分体系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078224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△ 维度通用化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4078224"/>
            <a:ext cx="2697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✕ 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2628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681728"/>
            <a:ext cx="2331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 i="0">
                <a:solidFill>
                  <a:srgbClr val="07488E"/>
                </a:solidFill>
                <a:latin typeface="微软雅黑"/>
                <a:ea typeface="微软雅黑"/>
              </a:rPr>
              <a:t>数据壁垒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真实高转化语料持续沉淀，需长期行业积累而非资本投入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9272" y="452628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02152" y="4681728"/>
            <a:ext cx="2331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 i="0">
                <a:solidFill>
                  <a:srgbClr val="07488E"/>
                </a:solidFill>
                <a:latin typeface="微软雅黑"/>
                <a:ea typeface="微软雅黑"/>
              </a:rPr>
              <a:t>合规壁垒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医学理解与技术能力兼备，跨行业厂商短期难以补齐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452628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64224" y="4681728"/>
            <a:ext cx="2331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 i="0">
                <a:solidFill>
                  <a:srgbClr val="07488E"/>
                </a:solidFill>
                <a:latin typeface="微软雅黑"/>
                <a:ea typeface="微软雅黑"/>
              </a:rPr>
              <a:t>客户壁垒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私有化部署与业务深度绑定，迁移成本高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43416" y="452628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26296" y="4681728"/>
            <a:ext cx="2331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 i="0">
                <a:solidFill>
                  <a:srgbClr val="07488E"/>
                </a:solidFill>
                <a:latin typeface="微软雅黑"/>
                <a:ea typeface="微软雅黑"/>
              </a:rPr>
              <a:t>迭代能力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依托高校算力与科研资源，持续跟踪基础模型升级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49640" y="6400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DC3E9"/>
                </a:solidFill>
                <a:latin typeface="Arial"/>
                <a:ea typeface="微软雅黑"/>
              </a:rPr>
              <a:t>SHANGHAI UNIVERSITY</a:t>
            </a:r>
          </a:p>
        </p:txBody>
      </p:sp>
      <p:pic>
        <p:nvPicPr>
          <p:cNvPr id="5" name="Picture 4" descr="badge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371600" cy="560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C9DDF0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3880"/>
                </a:solidFill>
                <a:latin typeface="微软雅黑"/>
                <a:ea typeface="微软雅黑"/>
              </a:rPr>
              <a:t>团队与规划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Arial"/>
                <a:ea typeface="微软雅黑"/>
              </a:rPr>
              <a:t>TEAM &amp;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2011680" cy="27940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44348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43434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团队：知识结构覆盖项目全部技术环节的三人团队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48920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8006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进度：语料构建 → 模型微调 → 系统开发 → 评测验收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53492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8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规划：近期研发闭环、中期交付产品化、远期跨场景复制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806440"/>
            <a:ext cx="91440" cy="91440"/>
          </a:xfrm>
          <a:prstGeom prst="ellipse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571500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7F"/>
                </a:solidFill>
                <a:latin typeface="微软雅黑"/>
                <a:ea typeface="微软雅黑"/>
              </a:rPr>
              <a:t>价值：改善医患沟通，探索医疗 AI 人才培养实践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7488E"/>
                </a:solidFill>
                <a:latin typeface="Arial"/>
                <a:ea typeface="微软雅黑"/>
              </a:rPr>
              <a:t>26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F07E319-402E-DECE-F5E1-4EF5E3A73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201" y="2383691"/>
            <a:ext cx="6157494" cy="446265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团队：分工互补 · 结构完整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05 团队与规划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83080" y="1993392"/>
            <a:ext cx="914400" cy="91440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2600" b="1" i="0" dirty="0">
                <a:solidFill>
                  <a:srgbClr val="FFFFFF"/>
                </a:solidFill>
                <a:latin typeface="微软雅黑"/>
                <a:ea typeface="微软雅黑"/>
              </a:rPr>
              <a:t>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31089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 i="0">
                <a:solidFill>
                  <a:srgbClr val="192640"/>
                </a:solidFill>
                <a:latin typeface="微软雅黑"/>
                <a:ea typeface="微软雅黑"/>
              </a:rPr>
              <a:t>金秋泽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项目负责人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85615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统筹项目进度与团队协调；负责 Qwen 模型 LoRA 微调实验把控、功能模块衔接与核心技术文档撰写；扎实的 C++ 与 Python 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41848" y="1993392"/>
            <a:ext cx="914400" cy="91440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054096"/>
            <a:ext cx="31089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 i="0">
                <a:solidFill>
                  <a:srgbClr val="192640"/>
                </a:solidFill>
                <a:latin typeface="微软雅黑"/>
                <a:ea typeface="微软雅黑"/>
              </a:rPr>
              <a:t>章  杰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前端与语料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85615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负责微信小程序前端开发与界面设计、口腔医疗语料库清洗标注、模型性能评测优化；钻研机器学习算法并开展过相关课题研究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78308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0616" y="1993392"/>
            <a:ext cx="914400" cy="914400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3054096"/>
            <a:ext cx="31089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 i="0">
                <a:solidFill>
                  <a:srgbClr val="192640"/>
                </a:solidFill>
                <a:latin typeface="微软雅黑"/>
                <a:ea typeface="微软雅黑"/>
              </a:rPr>
              <a:t>奚泽翰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后端与数据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3785615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B7F"/>
                </a:solidFill>
                <a:latin typeface="微软雅黑"/>
                <a:ea typeface="微软雅黑"/>
              </a:rPr>
              <a:t>负责基于 Crow 框架的 C++ 后端开发、高性能 API 设计、数据库搭建与维护；具备相近方向工程项目经验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112745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047488"/>
            <a:ext cx="107899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1" i="0">
                <a:solidFill>
                  <a:srgbClr val="07488E"/>
                </a:solidFill>
                <a:latin typeface="微软雅黑"/>
                <a:ea typeface="微软雅黑"/>
              </a:rPr>
              <a:t>指导教师团队：</a:t>
            </a: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在大模型轻量化微调与医疗智能决策领域发表多篇高水平论文（METER · JBI / M3AE-Distill · Bioengineering / BMC Medical Imaging 等），为项目提供直接学术支撑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1" i="0">
                <a:solidFill>
                  <a:srgbClr val="07488E"/>
                </a:solidFill>
                <a:latin typeface="微软雅黑"/>
                <a:ea typeface="微软雅黑"/>
              </a:rPr>
              <a:t>协作机制：</a:t>
            </a: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三人分工明确互补，每周定期交流，严格执行文档管理与阶段交付制度，与指导教师保持定期沟通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研发进度：四阶段推进 · 里程碑清晰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ROADMAP &amp;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05 团队与规划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16352"/>
            <a:ext cx="10835640" cy="3175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10512" y="2697480"/>
            <a:ext cx="274320" cy="274320"/>
          </a:xfrm>
          <a:prstGeom prst="ellipse">
            <a:avLst/>
          </a:prstGeom>
          <a:solidFill>
            <a:srgbClr val="07488E"/>
          </a:solidFill>
          <a:ln w="19050">
            <a:solidFill>
              <a:srgbClr val="0748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07592" y="217627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2025.11–2026.3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2615184" cy="19202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410712"/>
            <a:ext cx="221284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01 语料构建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文献与技术调研、数据集筛选清洗整合，交付口腔语料数据集与说明文档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697480"/>
            <a:ext cx="274320" cy="274320"/>
          </a:xfrm>
          <a:prstGeom prst="ellipse">
            <a:avLst/>
          </a:prstGeom>
          <a:solidFill>
            <a:srgbClr val="07488E"/>
          </a:solidFill>
          <a:ln w="19050">
            <a:solidFill>
              <a:srgbClr val="0748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06240" y="217627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2026.4–2026.8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728" y="3246120"/>
            <a:ext cx="2615184" cy="19202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39896" y="3410712"/>
            <a:ext cx="221284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02 模型微调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提示工程与预实验、LoRA 微调与二次微调，交付微调模型权重</a:t>
            </a:r>
          </a:p>
        </p:txBody>
      </p:sp>
      <p:sp>
        <p:nvSpPr>
          <p:cNvPr id="19" name="Oval 18"/>
          <p:cNvSpPr/>
          <p:nvPr/>
        </p:nvSpPr>
        <p:spPr>
          <a:xfrm>
            <a:off x="7607808" y="26974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48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04888" y="217627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7488E"/>
                </a:solidFill>
                <a:latin typeface="微软雅黑"/>
                <a:ea typeface="微软雅黑"/>
              </a:rPr>
              <a:t>2026.9–2027.2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7376" y="3246120"/>
            <a:ext cx="2615184" cy="19202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3410712"/>
            <a:ext cx="221284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03 系统开发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前后端开发、功能完善、整体联调测试，交付可稳定运行的系统</a:t>
            </a:r>
          </a:p>
        </p:txBody>
      </p:sp>
      <p:sp>
        <p:nvSpPr>
          <p:cNvPr id="23" name="Oval 22"/>
          <p:cNvSpPr/>
          <p:nvPr/>
        </p:nvSpPr>
        <p:spPr>
          <a:xfrm>
            <a:off x="10506456" y="26974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48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003536" y="217627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7488E"/>
                </a:solidFill>
                <a:latin typeface="微软雅黑"/>
                <a:ea typeface="微软雅黑"/>
              </a:rPr>
              <a:t>2027.3–2027.5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6024" y="3246120"/>
            <a:ext cx="2615184" cy="192024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37192" y="3410712"/>
            <a:ext cx="221284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350" b="1" i="0">
                <a:solidFill>
                  <a:srgbClr val="192640"/>
                </a:solidFill>
                <a:latin typeface="微软雅黑"/>
                <a:ea typeface="微软雅黑"/>
              </a:rPr>
              <a:t>04 评测验收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综合分析、结题报告、申请软件著作权，完成项目验收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07488E"/>
                </a:solidFill>
                <a:latin typeface="微软雅黑"/>
                <a:ea typeface="微软雅黑"/>
              </a:rPr>
              <a:t>● 已完成 / 进行中：</a:t>
            </a: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已完成文献调研、技术选型与整体架构设计，语料库构建与模型微调正按计划推进；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8A99A8"/>
                </a:solidFill>
                <a:latin typeface="微软雅黑"/>
                <a:ea typeface="微软雅黑"/>
              </a:rPr>
              <a:t>○ 待开展：</a:t>
            </a: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2026 年内完成微调模型与系统原型，2027 年上半年完成整体联调并申请软件著作权。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资源保障与财务概览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RESOURCES &amp; FINANCE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05 团队与规划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488E"/>
                </a:solidFill>
                <a:latin typeface="微软雅黑"/>
                <a:ea typeface="微软雅黑"/>
              </a:rPr>
              <a:t>资源保障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532888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算力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77440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“自强 5000”平台：132 张 A100 / 1040 张 A800 / 980 张 RTX3090，算力充足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3950208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生态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94760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Qwen / LLaMA-Factory / cMedQA2 / CMDD / OpenCompass 全栈开源，成本可控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5367528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经费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212080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大学生创新项目经费 3500 元：资料 500 / 设备（GPU 租赁）2000 / 调研 1000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783080"/>
            <a:ext cx="5349240" cy="4343400"/>
          </a:xfrm>
          <a:prstGeom prst="roundRect">
            <a:avLst>
              <a:gd name="adj" fmla="val 6000"/>
            </a:avLst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0116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财务概览（测算口径）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14600"/>
            <a:ext cx="4800600" cy="425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 i="0" dirty="0">
                <a:solidFill>
                  <a:srgbClr val="F2C94C"/>
                </a:solidFill>
                <a:latin typeface="微软雅黑"/>
                <a:ea typeface="微软雅黑"/>
              </a:rPr>
              <a:t>2027 </a:t>
            </a:r>
            <a:r>
              <a:rPr sz="1250" b="1" i="0" dirty="0" err="1">
                <a:solidFill>
                  <a:srgbClr val="F2C94C"/>
                </a:solidFill>
                <a:latin typeface="微软雅黑"/>
                <a:ea typeface="微软雅黑"/>
              </a:rPr>
              <a:t>交付</a:t>
            </a:r>
            <a:endParaRPr sz="1250" b="1" i="0" dirty="0">
              <a:solidFill>
                <a:srgbClr val="F2C94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i="0" dirty="0">
                <a:solidFill>
                  <a:srgbClr val="DDEAF7"/>
                </a:solidFill>
                <a:latin typeface="微软雅黑"/>
                <a:ea typeface="微软雅黑"/>
              </a:rPr>
              <a:t>3 </a:t>
            </a:r>
            <a:r>
              <a:rPr sz="1000" b="0" i="0" dirty="0" err="1">
                <a:solidFill>
                  <a:srgbClr val="DDEAF7"/>
                </a:solidFill>
                <a:latin typeface="微软雅黑"/>
                <a:ea typeface="微软雅黑"/>
              </a:rPr>
              <a:t>家试点客户，实现首批部署收入，当年盈亏平衡</a:t>
            </a:r>
            <a:endParaRPr sz="1000" b="0" i="0" dirty="0">
              <a:solidFill>
                <a:srgbClr val="DDEAF7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75120" y="3538728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 i="0">
                <a:solidFill>
                  <a:srgbClr val="F2C94C"/>
                </a:solidFill>
                <a:latin typeface="微软雅黑"/>
                <a:ea typeface="微软雅黑"/>
              </a:rPr>
              <a:t>2028 扩张期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i="0">
                <a:solidFill>
                  <a:srgbClr val="DDEAF7"/>
                </a:solidFill>
                <a:latin typeface="微软雅黑"/>
                <a:ea typeface="微软雅黑"/>
              </a:rPr>
              <a:t>客户增至 15 家，实现整体盈利，收入以部署费为主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562856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 i="0">
                <a:solidFill>
                  <a:srgbClr val="F2C94C"/>
                </a:solidFill>
                <a:latin typeface="微软雅黑"/>
                <a:ea typeface="微软雅黑"/>
              </a:rPr>
              <a:t>2029 复制期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i="0">
                <a:solidFill>
                  <a:srgbClr val="DDEAF7"/>
                </a:solidFill>
                <a:latin typeface="微软雅黑"/>
                <a:ea typeface="微软雅黑"/>
              </a:rPr>
              <a:t>客户增至 40 家，净利润达数百万元级，服务费形成稳定现金流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62356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9C6E4"/>
                </a:solidFill>
                <a:latin typeface="微软雅黑"/>
                <a:ea typeface="微软雅黑"/>
              </a:rPr>
              <a:t>研发投入期无负债、无外部融资，股权结构清晰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未来规划：三步走战略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THREE-STEP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05 团队与规划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566160" cy="109728"/>
          </a:xfrm>
          <a:prstGeom prst="rect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121408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近期 2026–2027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 i="0">
                <a:solidFill>
                  <a:srgbClr val="192640"/>
                </a:solidFill>
                <a:latin typeface="微软雅黑"/>
                <a:ea typeface="微软雅黑"/>
              </a:rPr>
              <a:t>研发闭环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017520"/>
            <a:ext cx="30906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完成语料库、微调模型与陪练系统研发闭环，取得软件著作权，形成可私有化交付的标准产品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2880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1828800"/>
            <a:ext cx="3566160" cy="109728"/>
          </a:xfrm>
          <a:prstGeom prst="rect">
            <a:avLst/>
          </a:prstGeom>
          <a:solidFill>
            <a:srgbClr val="0F6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2121408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中期 2028–2029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 i="0">
                <a:solidFill>
                  <a:srgbClr val="192640"/>
                </a:solidFill>
                <a:latin typeface="微软雅黑"/>
                <a:ea typeface="微软雅黑"/>
              </a:rPr>
              <a:t>交付产品化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017520"/>
            <a:ext cx="30906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引入语音对练、更细粒度场景库与管理层数据看板，交付流程产品化，客户数向数十家迈进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82880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74736" y="1828800"/>
            <a:ext cx="356616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121408"/>
            <a:ext cx="3090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0F66AE"/>
                </a:solidFill>
                <a:latin typeface="微软雅黑"/>
                <a:ea typeface="微软雅黑"/>
              </a:rPr>
              <a:t>远期 2029 以后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 i="0">
                <a:solidFill>
                  <a:srgbClr val="192640"/>
                </a:solidFill>
                <a:latin typeface="微软雅黑"/>
                <a:ea typeface="微软雅黑"/>
              </a:rPr>
              <a:t>跨场景复制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0906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5A6B7F"/>
                </a:solidFill>
                <a:latin typeface="微软雅黑"/>
                <a:ea typeface="微软雅黑"/>
              </a:rPr>
              <a:t>向医美、眼科等消费医疗场景横向复制，语料构建与对齐方法论产品化，形成可授权输出的技术能力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40680"/>
            <a:ext cx="11274552" cy="73152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7488E"/>
                </a:solidFill>
                <a:latin typeface="微软雅黑"/>
                <a:ea typeface="微软雅黑"/>
              </a:rPr>
              <a:t>产品 · 市场 · 财务 · 团队四线协同：从学生项目稳步走向可持续经营的创业实体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社会价值：不止于商业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SOCIAL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05 团队与规划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057400"/>
            <a:ext cx="566928" cy="566928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93976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改善医患沟通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07208"/>
            <a:ext cx="48828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提升口腔医疗客服队伍专业化水平，改善医患沟通质量、减少服务纠纷，构建以患者为中心的信任关系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78308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19672" y="2057400"/>
            <a:ext cx="566928" cy="566928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093976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数据合规自觉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07208"/>
            <a:ext cx="48828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医患语料均经脱敏处理，私有化部署确保数据不出域，全流程符合医疗数据与个人信息保护法规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23943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4398263"/>
            <a:ext cx="566928" cy="566928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34839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伦理边界清晰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148071"/>
            <a:ext cx="48828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定位为客服训练辅助工具而非诊疗建议工具，不面向患者提供医疗判断，从源头规避医疗 AI 伦理风险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123943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19672" y="4398263"/>
            <a:ext cx="566928" cy="566928"/>
          </a:xfrm>
          <a:prstGeom prst="ellipse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434839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92640"/>
                </a:solidFill>
                <a:latin typeface="微软雅黑"/>
                <a:ea typeface="微软雅黑"/>
              </a:rPr>
              <a:t>育人示范价值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148071"/>
            <a:ext cx="48828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B7F"/>
                </a:solidFill>
                <a:latin typeface="微软雅黑"/>
                <a:ea typeface="微软雅黑"/>
              </a:rPr>
              <a:t>为大学生科研成果转化与医疗人工智能人才培养提供实践样本，探索垂直高专业场景的 AI 落地范式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43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92640"/>
                </a:solidFill>
                <a:latin typeface="微软雅黑"/>
                <a:ea typeface="微软雅黑"/>
              </a:rPr>
              <a:t>数据来源与参考文献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9A8"/>
                </a:solidFill>
                <a:latin typeface="Arial"/>
                <a:ea typeface="微软雅黑"/>
              </a:rP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7488E"/>
                </a:solidFill>
                <a:latin typeface="微软雅黑"/>
                <a:ea typeface="微软雅黑"/>
              </a:rPr>
              <a:t>附录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7904"/>
            <a:ext cx="11274552" cy="2032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4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288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FD5EA"/>
                </a:solidFill>
                <a:latin typeface="微软雅黑"/>
                <a:ea typeface="微软雅黑"/>
              </a:rPr>
              <a:t>严谨 勤奋 求实 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国家卫生健康委员会《中国卫生健康统计年鉴》（口腔医院数量、门诊人次数据）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弗若斯特沙利文报告（转引自瑞尔集团 2025 年度年报）：口腔医疗服务市场规模测算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2841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28415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医涯 DSO 大数据：截至 2025 年 5 月全国在营口腔医疗机构 13.59 万家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7822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7822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国家医保局《关于开展口腔种植医疗服务收费和耗材价格专项治理的通知》（2022）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280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28032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艾瑞咨询《中国企业培训行业研究报告》（2021）/《2025 年中国企业 AI 培训行业研究报告》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57784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中国政府采购网：同济大学跨模态大模型 AI 系统中标公告（1190.7 万元）；连云港市第一人民医院 AI 大模型部署算力采购（预算 320 万元）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8288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[7]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82880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通策医疗 2024 年年度报告；瑞尔集团 2024/2025 财年业绩报告；泰康拜博口腔官网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57860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[8]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7860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中关村科金得助智能陪练官网及广州银行信用卡中心案例（培训费用降低约 32%）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32841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[9]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328415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循环智能官网及 36 氪公开报道；同花顺财经《神州数码推出 AI 智能陪练解决方案》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07822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[10]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07822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Liang X, Xie J, et al. METER, Journal of Biomedical Informatics,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8280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[11]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828032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Liang X, Xie J, et al. M3AE-Distill, Bioengineering,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5778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66AE"/>
                </a:solidFill>
                <a:latin typeface="Arial"/>
                <a:ea typeface="微软雅黑"/>
              </a:rPr>
              <a:t>[12]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57784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B7F"/>
                </a:solidFill>
                <a:latin typeface="微软雅黑"/>
                <a:ea typeface="微软雅黑"/>
              </a:rPr>
              <a:t>Xie J, et al. BMC Medical Imaging, 2025 / Computerized Medical Imaging and Graphics, 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dge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463040" cy="5923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61383" y="1686556"/>
            <a:ext cx="5068928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 dirty="0" err="1">
                <a:solidFill>
                  <a:srgbClr val="003880"/>
                </a:solidFill>
                <a:latin typeface="微软雅黑"/>
                <a:ea typeface="微软雅黑"/>
              </a:rPr>
              <a:t>感谢聆听</a:t>
            </a:r>
            <a:r>
              <a:rPr sz="4400" b="1" i="0" dirty="0">
                <a:solidFill>
                  <a:srgbClr val="003880"/>
                </a:solidFill>
                <a:latin typeface="微软雅黑"/>
                <a:ea typeface="微软雅黑"/>
              </a:rPr>
              <a:t> · </a:t>
            </a:r>
            <a:r>
              <a:rPr sz="4400" b="1" i="0" dirty="0" err="1">
                <a:solidFill>
                  <a:srgbClr val="003880"/>
                </a:solidFill>
                <a:latin typeface="微软雅黑"/>
                <a:ea typeface="微软雅黑"/>
              </a:rPr>
              <a:t>敬请指导</a:t>
            </a:r>
            <a:endParaRPr sz="4400" b="1" i="0" dirty="0">
              <a:solidFill>
                <a:srgbClr val="00388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58695" y="3390171"/>
            <a:ext cx="406230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>
                <a:solidFill>
                  <a:srgbClr val="0F66AE"/>
                </a:solidFill>
                <a:latin typeface="微软雅黑"/>
                <a:ea typeface="微软雅黑"/>
              </a:rPr>
              <a:t>让 AI </a:t>
            </a:r>
            <a:r>
              <a:rPr sz="1600" b="0" i="0" dirty="0" err="1">
                <a:solidFill>
                  <a:srgbClr val="0F66AE"/>
                </a:solidFill>
                <a:latin typeface="微软雅黑"/>
                <a:ea typeface="微软雅黑"/>
              </a:rPr>
              <a:t>成为每一位口腔医疗客服的随身陪练师</a:t>
            </a:r>
            <a:endParaRPr sz="1600" b="0" i="0" dirty="0">
              <a:solidFill>
                <a:srgbClr val="0F66AE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89998" y="4260621"/>
            <a:ext cx="3999701" cy="59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汇报人：金秋泽</a:t>
            </a:r>
            <a:r>
              <a:rPr sz="1300" b="0" i="0" dirty="0">
                <a:solidFill>
                  <a:srgbClr val="5A6B7F"/>
                </a:solidFill>
                <a:latin typeface="微软雅黑"/>
                <a:ea typeface="微软雅黑"/>
              </a:rPr>
              <a:t>  </a:t>
            </a: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章杰</a:t>
            </a:r>
            <a:r>
              <a:rPr sz="1300" b="0" i="0" dirty="0">
                <a:solidFill>
                  <a:srgbClr val="5A6B7F"/>
                </a:solidFill>
                <a:latin typeface="微软雅黑"/>
                <a:ea typeface="微软雅黑"/>
              </a:rPr>
              <a:t>  </a:t>
            </a: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奚泽翰</a:t>
            </a:r>
            <a:r>
              <a:rPr sz="1300" b="0" i="0" dirty="0">
                <a:solidFill>
                  <a:srgbClr val="5A6B7F"/>
                </a:solidFill>
                <a:latin typeface="微软雅黑"/>
                <a:ea typeface="微软雅黑"/>
              </a:rPr>
              <a:t>      </a:t>
            </a: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指导教师：谢江</a:t>
            </a:r>
            <a:endParaRPr sz="1300" b="0" i="0" dirty="0">
              <a:solidFill>
                <a:srgbClr val="5A6B7F"/>
              </a:solidFill>
              <a:latin typeface="微软雅黑"/>
              <a:ea typeface="微软雅黑"/>
            </a:endParaRPr>
          </a:p>
          <a:p>
            <a:pPr algn="ctr">
              <a:lnSpc>
                <a:spcPct val="160000"/>
              </a:lnSpc>
            </a:pPr>
            <a:r>
              <a:rPr sz="1300" b="0" i="0" dirty="0" err="1">
                <a:solidFill>
                  <a:srgbClr val="5A6B7F"/>
                </a:solidFill>
                <a:latin typeface="微软雅黑"/>
                <a:ea typeface="微软雅黑"/>
              </a:rPr>
              <a:t>上海大学计算机工程与科学学院</a:t>
            </a:r>
            <a:endParaRPr sz="1300" b="0" i="0" dirty="0">
              <a:solidFill>
                <a:srgbClr val="5A6B7F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473952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  <a:ea typeface="微软雅黑"/>
              </a:rPr>
              <a:t>SHANGHAI UNIVERSITY</a:t>
            </a:r>
            <a:r>
              <a:rPr sz="1000" b="0" i="0">
                <a:solidFill>
                  <a:srgbClr val="BFD5EA"/>
                </a:solidFill>
                <a:latin typeface="微软雅黑"/>
                <a:ea typeface="微软雅黑"/>
              </a:rPr>
              <a:t>    |    严谨 勤奋 求实 创新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MSwiaGRpZCI6ImVkZmEyYWQxZWJjOThiZmU4ZTVjYjE3ZWMyMDc4NzdjIiwidXNlckNvdW50Ijox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蓝色V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5359B"/>
      </a:accent1>
      <a:accent2>
        <a:srgbClr val="1A88D0"/>
      </a:accent2>
      <a:accent3>
        <a:srgbClr val="262626"/>
      </a:accent3>
      <a:accent4>
        <a:srgbClr val="FFFF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CN Heavy"/>
        <a:ea typeface="思源宋体 CN Heavy"/>
        <a:cs typeface=""/>
      </a:majorFont>
      <a:minorFont>
        <a:latin typeface="思源宋体 CN Medium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汉仪文黑-75简"/>
        <a:ea typeface="汉仪文黑-75简"/>
        <a:cs typeface=""/>
      </a:majorFont>
      <a:minorFont>
        <a:latin typeface="汉仪文黑-75简"/>
        <a:ea typeface="汉仪文黑-7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1880</Words>
  <Application>Microsoft Office PowerPoint</Application>
  <PresentationFormat>宽屏</PresentationFormat>
  <Paragraphs>567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汉仪文黑-75简</vt:lpstr>
      <vt:lpstr>思源宋体 CN Heavy</vt:lpstr>
      <vt:lpstr>思源宋体 CN Medium</vt:lpstr>
      <vt:lpstr>微软雅黑</vt:lpstr>
      <vt:lpstr>Arial</vt:lpstr>
      <vt:lpstr>Calibri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josh</dc:creator>
  <cp:lastModifiedBy>秋泽 金</cp:lastModifiedBy>
  <cp:revision>137</cp:revision>
  <dcterms:created xsi:type="dcterms:W3CDTF">2024-03-12T14:50:00Z</dcterms:created>
  <dcterms:modified xsi:type="dcterms:W3CDTF">2026-08-26T03:00:02Z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6482B1AEAB5045C09097BAF9770D2BC4_13</vt:lpwstr>
  </property>
  <property fmtid="{D5CDD505-2E9C-101B-9397-08002B2CF9AE}" pid="3" name="KSOProductBuildVer">
    <vt:lpwstr>2052-12.1.0.18276</vt:lpwstr>
  </property>
  <property fmtid="{D5CDD505-2E9C-101B-9397-08002B2CF9AE}" pid="4" name="KSOTemplateUUID">
    <vt:lpwstr>v1.0_mb_UC52ENKzekzQWQLR7VoJ2g==</vt:lpwstr>
  </property>
</Properties>
</file>